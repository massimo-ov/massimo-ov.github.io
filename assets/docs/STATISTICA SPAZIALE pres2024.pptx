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11" r:id="rId1"/>
  </p:sldMasterIdLst>
  <p:notesMasterIdLst>
    <p:notesMasterId r:id="rId17"/>
  </p:notesMasterIdLst>
  <p:sldIdLst>
    <p:sldId id="256" r:id="rId2"/>
    <p:sldId id="257" r:id="rId3"/>
    <p:sldId id="258" r:id="rId4"/>
    <p:sldId id="266" r:id="rId5"/>
    <p:sldId id="264" r:id="rId6"/>
    <p:sldId id="260" r:id="rId7"/>
    <p:sldId id="268" r:id="rId8"/>
    <p:sldId id="269" r:id="rId9"/>
    <p:sldId id="270" r:id="rId10"/>
    <p:sldId id="271" r:id="rId11"/>
    <p:sldId id="272" r:id="rId12"/>
    <p:sldId id="273" r:id="rId13"/>
    <p:sldId id="265" r:id="rId14"/>
    <p:sldId id="275" r:id="rId15"/>
    <p:sldId id="274" r:id="rId1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ile medio 2 - Color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29" autoAdjust="0"/>
    <p:restoredTop sz="94660"/>
  </p:normalViewPr>
  <p:slideViewPr>
    <p:cSldViewPr snapToGrid="0">
      <p:cViewPr varScale="1">
        <p:scale>
          <a:sx n="65" d="100"/>
          <a:sy n="65" d="100"/>
        </p:scale>
        <p:origin x="894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E12A017-08C8-493E-8AB1-FE3E753D912B}" type="doc">
      <dgm:prSet loTypeId="urn:microsoft.com/office/officeart/2008/layout/LinedList" loCatId="list" qsTypeId="urn:microsoft.com/office/officeart/2005/8/quickstyle/simple4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4CD4F57E-4BEA-466E-8238-559D07B43BE4}">
      <dgm:prSet/>
      <dgm:spPr/>
      <dgm:t>
        <a:bodyPr/>
        <a:lstStyle/>
        <a:p>
          <a:r>
            <a:rPr lang="it-IT" dirty="0"/>
            <a:t>I dati hanno fatto propendere per l’adattamento di un modello teorico sul </a:t>
          </a:r>
          <a:r>
            <a:rPr lang="it-IT" dirty="0" err="1"/>
            <a:t>semivariogramma</a:t>
          </a:r>
          <a:r>
            <a:rPr lang="it-IT" dirty="0"/>
            <a:t> campionario robusto.</a:t>
          </a:r>
          <a:endParaRPr lang="en-US" dirty="0"/>
        </a:p>
      </dgm:t>
    </dgm:pt>
    <dgm:pt modelId="{F5BDE0F5-9B95-4179-9865-C6316A1CDC65}" type="parTrans" cxnId="{6E9E0394-9260-45F1-A65B-C293E74DAF7D}">
      <dgm:prSet/>
      <dgm:spPr/>
      <dgm:t>
        <a:bodyPr/>
        <a:lstStyle/>
        <a:p>
          <a:endParaRPr lang="en-US"/>
        </a:p>
      </dgm:t>
    </dgm:pt>
    <dgm:pt modelId="{594CF54F-A36D-4703-9A69-FD696CAF030F}" type="sibTrans" cxnId="{6E9E0394-9260-45F1-A65B-C293E74DAF7D}">
      <dgm:prSet/>
      <dgm:spPr/>
      <dgm:t>
        <a:bodyPr/>
        <a:lstStyle/>
        <a:p>
          <a:endParaRPr lang="en-US"/>
        </a:p>
      </dgm:t>
    </dgm:pt>
    <dgm:pt modelId="{3E7B1FB6-68EA-45A2-983E-FE373034E885}">
      <dgm:prSet/>
      <dgm:spPr/>
      <dgm:t>
        <a:bodyPr/>
        <a:lstStyle/>
        <a:p>
          <a:r>
            <a:rPr lang="en-US" dirty="0"/>
            <a:t>Secondo </a:t>
          </a:r>
          <a:r>
            <a:rPr lang="en-US" dirty="0" err="1"/>
            <a:t>gli</a:t>
          </a:r>
          <a:r>
            <a:rPr lang="en-US" dirty="0"/>
            <a:t> </a:t>
          </a:r>
          <a:r>
            <a:rPr lang="en-US" dirty="0" err="1"/>
            <a:t>SSErr</a:t>
          </a:r>
          <a:r>
            <a:rPr lang="en-US" dirty="0"/>
            <a:t> il </a:t>
          </a:r>
          <a:r>
            <a:rPr lang="en-US" dirty="0" err="1"/>
            <a:t>modello</a:t>
          </a:r>
          <a:r>
            <a:rPr lang="en-US" dirty="0"/>
            <a:t> </a:t>
          </a:r>
          <a:r>
            <a:rPr lang="en-US" dirty="0" err="1"/>
            <a:t>teorico</a:t>
          </a:r>
          <a:r>
            <a:rPr lang="en-US" dirty="0"/>
            <a:t> </a:t>
          </a:r>
          <a:r>
            <a:rPr lang="en-US" dirty="0" err="1"/>
            <a:t>che</a:t>
          </a:r>
          <a:r>
            <a:rPr lang="en-US" dirty="0"/>
            <a:t> </a:t>
          </a:r>
          <a:r>
            <a:rPr lang="en-US" dirty="0" err="1"/>
            <a:t>si</a:t>
          </a:r>
          <a:r>
            <a:rPr lang="en-US" dirty="0"/>
            <a:t> </a:t>
          </a:r>
          <a:r>
            <a:rPr lang="en-US" dirty="0" err="1"/>
            <a:t>adatta</a:t>
          </a:r>
          <a:r>
            <a:rPr lang="en-US" dirty="0"/>
            <a:t> </a:t>
          </a:r>
          <a:r>
            <a:rPr lang="en-US" dirty="0" err="1"/>
            <a:t>meglio</a:t>
          </a:r>
          <a:r>
            <a:rPr lang="en-US" dirty="0"/>
            <a:t> è </a:t>
          </a:r>
          <a:r>
            <a:rPr lang="en-US" dirty="0" err="1"/>
            <a:t>quello</a:t>
          </a:r>
          <a:r>
            <a:rPr lang="en-US" dirty="0"/>
            <a:t> </a:t>
          </a:r>
          <a:r>
            <a:rPr lang="en-US" dirty="0" err="1"/>
            <a:t>sferico</a:t>
          </a:r>
          <a:r>
            <a:rPr lang="en-US" dirty="0"/>
            <a:t> </a:t>
          </a:r>
          <a:r>
            <a:rPr lang="en-US" dirty="0" err="1"/>
            <a:t>tuttavia</a:t>
          </a:r>
          <a:r>
            <a:rPr lang="en-US" dirty="0"/>
            <a:t> per la </a:t>
          </a:r>
          <a:r>
            <a:rPr lang="en-US" dirty="0" err="1"/>
            <a:t>scelta</a:t>
          </a:r>
          <a:r>
            <a:rPr lang="en-US" dirty="0"/>
            <a:t> </a:t>
          </a:r>
          <a:r>
            <a:rPr lang="en-US" dirty="0" err="1"/>
            <a:t>definitiva</a:t>
          </a:r>
          <a:r>
            <a:rPr lang="en-US" dirty="0"/>
            <a:t> </a:t>
          </a:r>
          <a:r>
            <a:rPr lang="en-US" dirty="0" err="1"/>
            <a:t>bisogna</a:t>
          </a:r>
          <a:r>
            <a:rPr lang="en-US" dirty="0"/>
            <a:t> </a:t>
          </a:r>
          <a:r>
            <a:rPr lang="en-US" dirty="0" err="1"/>
            <a:t>tenere</a:t>
          </a:r>
          <a:r>
            <a:rPr lang="en-US" dirty="0"/>
            <a:t> in </a:t>
          </a:r>
          <a:r>
            <a:rPr lang="en-US" dirty="0" err="1"/>
            <a:t>considerazione</a:t>
          </a:r>
          <a:r>
            <a:rPr lang="en-US" dirty="0"/>
            <a:t> </a:t>
          </a:r>
          <a:r>
            <a:rPr lang="en-US" dirty="0" err="1"/>
            <a:t>tutta</a:t>
          </a:r>
          <a:r>
            <a:rPr lang="en-US" dirty="0"/>
            <a:t> la </a:t>
          </a:r>
          <a:r>
            <a:rPr lang="en-US" dirty="0" err="1"/>
            <a:t>parte</a:t>
          </a:r>
          <a:r>
            <a:rPr lang="en-US" dirty="0"/>
            <a:t> </a:t>
          </a:r>
          <a:r>
            <a:rPr lang="en-US" dirty="0" err="1"/>
            <a:t>successiva</a:t>
          </a:r>
          <a:r>
            <a:rPr lang="en-US" dirty="0"/>
            <a:t> </a:t>
          </a:r>
          <a:r>
            <a:rPr lang="en-US" dirty="0" err="1"/>
            <a:t>che</a:t>
          </a:r>
          <a:r>
            <a:rPr lang="en-US" dirty="0"/>
            <a:t> </a:t>
          </a:r>
          <a:r>
            <a:rPr lang="en-US" dirty="0" err="1"/>
            <a:t>utilizza</a:t>
          </a:r>
          <a:r>
            <a:rPr lang="en-US" dirty="0"/>
            <a:t> il </a:t>
          </a:r>
          <a:r>
            <a:rPr lang="en-US" dirty="0" err="1"/>
            <a:t>variogramma</a:t>
          </a:r>
          <a:r>
            <a:rPr lang="en-US" dirty="0"/>
            <a:t> per fare </a:t>
          </a:r>
          <a:r>
            <a:rPr lang="en-US" dirty="0" err="1"/>
            <a:t>previsione</a:t>
          </a:r>
          <a:r>
            <a:rPr lang="en-US" dirty="0"/>
            <a:t>.</a:t>
          </a:r>
        </a:p>
      </dgm:t>
    </dgm:pt>
    <dgm:pt modelId="{E576BBA9-8834-43E8-9103-E44E163B70B7}" type="parTrans" cxnId="{071F1048-EC6C-4EE3-B77D-A53B36690C05}">
      <dgm:prSet/>
      <dgm:spPr/>
      <dgm:t>
        <a:bodyPr/>
        <a:lstStyle/>
        <a:p>
          <a:endParaRPr lang="en-US"/>
        </a:p>
      </dgm:t>
    </dgm:pt>
    <dgm:pt modelId="{B09A8BEB-AFC0-46FC-B021-DD64482C2C4D}" type="sibTrans" cxnId="{071F1048-EC6C-4EE3-B77D-A53B36690C05}">
      <dgm:prSet/>
      <dgm:spPr/>
      <dgm:t>
        <a:bodyPr/>
        <a:lstStyle/>
        <a:p>
          <a:endParaRPr lang="en-US"/>
        </a:p>
      </dgm:t>
    </dgm:pt>
    <dgm:pt modelId="{52BC4774-1B31-432A-9C29-36FA6303D1C6}">
      <dgm:prSet/>
      <dgm:spPr/>
      <dgm:t>
        <a:bodyPr/>
        <a:lstStyle/>
        <a:p>
          <a:r>
            <a:rPr lang="it-IT" dirty="0"/>
            <a:t>La verifica dell’isotropia analizzando i </a:t>
          </a:r>
          <a:r>
            <a:rPr lang="it-IT" dirty="0" err="1"/>
            <a:t>variogrammi</a:t>
          </a:r>
          <a:r>
            <a:rPr lang="it-IT" dirty="0"/>
            <a:t> direzionali ci fa rimanere dubbi sul fatto che ci sia invarianza da direzione: i </a:t>
          </a:r>
          <a:r>
            <a:rPr lang="it-IT" dirty="0" err="1"/>
            <a:t>variogrammi</a:t>
          </a:r>
          <a:r>
            <a:rPr lang="it-IT" dirty="0"/>
            <a:t> differiscono abbastanza, serviranno ulteriori analisi e possibili soluzioni.</a:t>
          </a:r>
          <a:endParaRPr lang="en-US" dirty="0"/>
        </a:p>
      </dgm:t>
    </dgm:pt>
    <dgm:pt modelId="{56EFFF71-4844-4C4E-9AB1-161F21C7EAB3}" type="parTrans" cxnId="{DC11C4D6-1479-47FB-9A54-98310BF2AC47}">
      <dgm:prSet/>
      <dgm:spPr/>
      <dgm:t>
        <a:bodyPr/>
        <a:lstStyle/>
        <a:p>
          <a:endParaRPr lang="en-US"/>
        </a:p>
      </dgm:t>
    </dgm:pt>
    <dgm:pt modelId="{96924E46-E0E4-48FB-96D5-35741E3A5795}" type="sibTrans" cxnId="{DC11C4D6-1479-47FB-9A54-98310BF2AC47}">
      <dgm:prSet/>
      <dgm:spPr/>
      <dgm:t>
        <a:bodyPr/>
        <a:lstStyle/>
        <a:p>
          <a:endParaRPr lang="en-US"/>
        </a:p>
      </dgm:t>
    </dgm:pt>
    <dgm:pt modelId="{40E009DF-AB78-4519-BEAA-F25F001D165B}">
      <dgm:prSet/>
      <dgm:spPr/>
      <dgm:t>
        <a:bodyPr/>
        <a:lstStyle/>
        <a:p>
          <a:r>
            <a:rPr lang="it-IT" dirty="0"/>
            <a:t>Riuscire ad aver un buon adattamento di un </a:t>
          </a:r>
          <a:r>
            <a:rPr lang="it-IT" dirty="0" err="1"/>
            <a:t>variogramma</a:t>
          </a:r>
          <a:r>
            <a:rPr lang="it-IT" dirty="0"/>
            <a:t> teorico ad uno campionario è complicato, soprattutto se i dati non sono molti e presentano valori anomali. Nonostante questo fare </a:t>
          </a:r>
          <a:r>
            <a:rPr lang="it-IT" dirty="0" err="1"/>
            <a:t>variografia</a:t>
          </a:r>
          <a:r>
            <a:rPr lang="it-IT" dirty="0"/>
            <a:t> rimane un processo fondamentale e necessario per fare previsione spaziale.</a:t>
          </a:r>
          <a:endParaRPr lang="en-US" dirty="0"/>
        </a:p>
      </dgm:t>
    </dgm:pt>
    <dgm:pt modelId="{410A515A-FEEE-443C-97AD-93871AA6B878}" type="parTrans" cxnId="{D6094057-E705-4E24-8781-3016E29A35BE}">
      <dgm:prSet/>
      <dgm:spPr/>
      <dgm:t>
        <a:bodyPr/>
        <a:lstStyle/>
        <a:p>
          <a:endParaRPr lang="en-US"/>
        </a:p>
      </dgm:t>
    </dgm:pt>
    <dgm:pt modelId="{8C902FAA-97D9-4ECE-BB34-D77BADE1F429}" type="sibTrans" cxnId="{D6094057-E705-4E24-8781-3016E29A35BE}">
      <dgm:prSet/>
      <dgm:spPr/>
      <dgm:t>
        <a:bodyPr/>
        <a:lstStyle/>
        <a:p>
          <a:endParaRPr lang="en-US"/>
        </a:p>
      </dgm:t>
    </dgm:pt>
    <dgm:pt modelId="{BBF31690-541A-4A17-9198-29E405F0C25C}" type="pres">
      <dgm:prSet presAssocID="{4E12A017-08C8-493E-8AB1-FE3E753D912B}" presName="vert0" presStyleCnt="0">
        <dgm:presLayoutVars>
          <dgm:dir/>
          <dgm:animOne val="branch"/>
          <dgm:animLvl val="lvl"/>
        </dgm:presLayoutVars>
      </dgm:prSet>
      <dgm:spPr/>
    </dgm:pt>
    <dgm:pt modelId="{921143E8-67E4-4AAA-BB94-A1D0D50CB770}" type="pres">
      <dgm:prSet presAssocID="{4CD4F57E-4BEA-466E-8238-559D07B43BE4}" presName="thickLine" presStyleLbl="alignNode1" presStyleIdx="0" presStyleCnt="4"/>
      <dgm:spPr/>
    </dgm:pt>
    <dgm:pt modelId="{19D3E045-7EB9-4A37-9134-0D8CD0D78980}" type="pres">
      <dgm:prSet presAssocID="{4CD4F57E-4BEA-466E-8238-559D07B43BE4}" presName="horz1" presStyleCnt="0"/>
      <dgm:spPr/>
    </dgm:pt>
    <dgm:pt modelId="{459CBBCF-7FD8-4762-8F41-E50397F9804B}" type="pres">
      <dgm:prSet presAssocID="{4CD4F57E-4BEA-466E-8238-559D07B43BE4}" presName="tx1" presStyleLbl="revTx" presStyleIdx="0" presStyleCnt="4"/>
      <dgm:spPr/>
    </dgm:pt>
    <dgm:pt modelId="{8057476C-A49F-47E6-AE61-BBDC449BFE56}" type="pres">
      <dgm:prSet presAssocID="{4CD4F57E-4BEA-466E-8238-559D07B43BE4}" presName="vert1" presStyleCnt="0"/>
      <dgm:spPr/>
    </dgm:pt>
    <dgm:pt modelId="{77EA285F-5296-41C1-8D2B-024B8864898C}" type="pres">
      <dgm:prSet presAssocID="{3E7B1FB6-68EA-45A2-983E-FE373034E885}" presName="thickLine" presStyleLbl="alignNode1" presStyleIdx="1" presStyleCnt="4"/>
      <dgm:spPr/>
    </dgm:pt>
    <dgm:pt modelId="{34E8679A-B27B-4D3F-878B-730B5B6D03D1}" type="pres">
      <dgm:prSet presAssocID="{3E7B1FB6-68EA-45A2-983E-FE373034E885}" presName="horz1" presStyleCnt="0"/>
      <dgm:spPr/>
    </dgm:pt>
    <dgm:pt modelId="{F4C3B83A-4AF0-4939-AFD8-3D3EF009611E}" type="pres">
      <dgm:prSet presAssocID="{3E7B1FB6-68EA-45A2-983E-FE373034E885}" presName="tx1" presStyleLbl="revTx" presStyleIdx="1" presStyleCnt="4"/>
      <dgm:spPr/>
    </dgm:pt>
    <dgm:pt modelId="{E482C4C8-B42B-4591-B3FC-3888B866633E}" type="pres">
      <dgm:prSet presAssocID="{3E7B1FB6-68EA-45A2-983E-FE373034E885}" presName="vert1" presStyleCnt="0"/>
      <dgm:spPr/>
    </dgm:pt>
    <dgm:pt modelId="{D2E57B24-D4E0-4B5F-AF1F-83F6038B7C18}" type="pres">
      <dgm:prSet presAssocID="{52BC4774-1B31-432A-9C29-36FA6303D1C6}" presName="thickLine" presStyleLbl="alignNode1" presStyleIdx="2" presStyleCnt="4"/>
      <dgm:spPr/>
    </dgm:pt>
    <dgm:pt modelId="{AEF53AAC-706C-4089-8EFF-75204DA61D5B}" type="pres">
      <dgm:prSet presAssocID="{52BC4774-1B31-432A-9C29-36FA6303D1C6}" presName="horz1" presStyleCnt="0"/>
      <dgm:spPr/>
    </dgm:pt>
    <dgm:pt modelId="{6F7407D2-82FF-4C82-997E-3C99C403CE51}" type="pres">
      <dgm:prSet presAssocID="{52BC4774-1B31-432A-9C29-36FA6303D1C6}" presName="tx1" presStyleLbl="revTx" presStyleIdx="2" presStyleCnt="4"/>
      <dgm:spPr/>
    </dgm:pt>
    <dgm:pt modelId="{E8DBE4A5-3FD0-441E-8BBD-0F9736D7D108}" type="pres">
      <dgm:prSet presAssocID="{52BC4774-1B31-432A-9C29-36FA6303D1C6}" presName="vert1" presStyleCnt="0"/>
      <dgm:spPr/>
    </dgm:pt>
    <dgm:pt modelId="{1444A2A0-A4EC-4BE7-819D-495FC542ACED}" type="pres">
      <dgm:prSet presAssocID="{40E009DF-AB78-4519-BEAA-F25F001D165B}" presName="thickLine" presStyleLbl="alignNode1" presStyleIdx="3" presStyleCnt="4"/>
      <dgm:spPr/>
    </dgm:pt>
    <dgm:pt modelId="{09D38702-C6D3-4F40-A83D-F0B8FC30B04F}" type="pres">
      <dgm:prSet presAssocID="{40E009DF-AB78-4519-BEAA-F25F001D165B}" presName="horz1" presStyleCnt="0"/>
      <dgm:spPr/>
    </dgm:pt>
    <dgm:pt modelId="{9ACC79CB-0F55-44CF-AA5D-FCDF4FE78F44}" type="pres">
      <dgm:prSet presAssocID="{40E009DF-AB78-4519-BEAA-F25F001D165B}" presName="tx1" presStyleLbl="revTx" presStyleIdx="3" presStyleCnt="4"/>
      <dgm:spPr/>
    </dgm:pt>
    <dgm:pt modelId="{2EC256FC-3385-4E08-B1BC-AE6A8979A9EB}" type="pres">
      <dgm:prSet presAssocID="{40E009DF-AB78-4519-BEAA-F25F001D165B}" presName="vert1" presStyleCnt="0"/>
      <dgm:spPr/>
    </dgm:pt>
  </dgm:ptLst>
  <dgm:cxnLst>
    <dgm:cxn modelId="{1F2D9818-772D-4EB2-B30F-E6CDDBD721F3}" type="presOf" srcId="{3E7B1FB6-68EA-45A2-983E-FE373034E885}" destId="{F4C3B83A-4AF0-4939-AFD8-3D3EF009611E}" srcOrd="0" destOrd="0" presId="urn:microsoft.com/office/officeart/2008/layout/LinedList"/>
    <dgm:cxn modelId="{BEE0C463-FB01-461A-A627-0858E79C5726}" type="presOf" srcId="{40E009DF-AB78-4519-BEAA-F25F001D165B}" destId="{9ACC79CB-0F55-44CF-AA5D-FCDF4FE78F44}" srcOrd="0" destOrd="0" presId="urn:microsoft.com/office/officeart/2008/layout/LinedList"/>
    <dgm:cxn modelId="{071F1048-EC6C-4EE3-B77D-A53B36690C05}" srcId="{4E12A017-08C8-493E-8AB1-FE3E753D912B}" destId="{3E7B1FB6-68EA-45A2-983E-FE373034E885}" srcOrd="1" destOrd="0" parTransId="{E576BBA9-8834-43E8-9103-E44E163B70B7}" sibTransId="{B09A8BEB-AFC0-46FC-B021-DD64482C2C4D}"/>
    <dgm:cxn modelId="{D6094057-E705-4E24-8781-3016E29A35BE}" srcId="{4E12A017-08C8-493E-8AB1-FE3E753D912B}" destId="{40E009DF-AB78-4519-BEAA-F25F001D165B}" srcOrd="3" destOrd="0" parTransId="{410A515A-FEEE-443C-97AD-93871AA6B878}" sibTransId="{8C902FAA-97D9-4ECE-BB34-D77BADE1F429}"/>
    <dgm:cxn modelId="{6E9E0394-9260-45F1-A65B-C293E74DAF7D}" srcId="{4E12A017-08C8-493E-8AB1-FE3E753D912B}" destId="{4CD4F57E-4BEA-466E-8238-559D07B43BE4}" srcOrd="0" destOrd="0" parTransId="{F5BDE0F5-9B95-4179-9865-C6316A1CDC65}" sibTransId="{594CF54F-A36D-4703-9A69-FD696CAF030F}"/>
    <dgm:cxn modelId="{88C42EB7-7C34-4995-B58D-FCA4E0F09616}" type="presOf" srcId="{4E12A017-08C8-493E-8AB1-FE3E753D912B}" destId="{BBF31690-541A-4A17-9198-29E405F0C25C}" srcOrd="0" destOrd="0" presId="urn:microsoft.com/office/officeart/2008/layout/LinedList"/>
    <dgm:cxn modelId="{DC11C4D6-1479-47FB-9A54-98310BF2AC47}" srcId="{4E12A017-08C8-493E-8AB1-FE3E753D912B}" destId="{52BC4774-1B31-432A-9C29-36FA6303D1C6}" srcOrd="2" destOrd="0" parTransId="{56EFFF71-4844-4C4E-9AB1-161F21C7EAB3}" sibTransId="{96924E46-E0E4-48FB-96D5-35741E3A5795}"/>
    <dgm:cxn modelId="{BEFAC8E6-AD17-42E5-942D-1A20DCD45FA9}" type="presOf" srcId="{4CD4F57E-4BEA-466E-8238-559D07B43BE4}" destId="{459CBBCF-7FD8-4762-8F41-E50397F9804B}" srcOrd="0" destOrd="0" presId="urn:microsoft.com/office/officeart/2008/layout/LinedList"/>
    <dgm:cxn modelId="{377333FE-5240-46D6-A972-8763FEAB016D}" type="presOf" srcId="{52BC4774-1B31-432A-9C29-36FA6303D1C6}" destId="{6F7407D2-82FF-4C82-997E-3C99C403CE51}" srcOrd="0" destOrd="0" presId="urn:microsoft.com/office/officeart/2008/layout/LinedList"/>
    <dgm:cxn modelId="{7130FFE6-89E7-455D-99FF-488998D85375}" type="presParOf" srcId="{BBF31690-541A-4A17-9198-29E405F0C25C}" destId="{921143E8-67E4-4AAA-BB94-A1D0D50CB770}" srcOrd="0" destOrd="0" presId="urn:microsoft.com/office/officeart/2008/layout/LinedList"/>
    <dgm:cxn modelId="{0E5E8F7B-B184-4EC4-A0DF-5B49F2EDDDDD}" type="presParOf" srcId="{BBF31690-541A-4A17-9198-29E405F0C25C}" destId="{19D3E045-7EB9-4A37-9134-0D8CD0D78980}" srcOrd="1" destOrd="0" presId="urn:microsoft.com/office/officeart/2008/layout/LinedList"/>
    <dgm:cxn modelId="{5676A3E2-526D-487D-81C3-D639101CE80B}" type="presParOf" srcId="{19D3E045-7EB9-4A37-9134-0D8CD0D78980}" destId="{459CBBCF-7FD8-4762-8F41-E50397F9804B}" srcOrd="0" destOrd="0" presId="urn:microsoft.com/office/officeart/2008/layout/LinedList"/>
    <dgm:cxn modelId="{32A38972-93C0-4144-B7FF-8AACA56524A5}" type="presParOf" srcId="{19D3E045-7EB9-4A37-9134-0D8CD0D78980}" destId="{8057476C-A49F-47E6-AE61-BBDC449BFE56}" srcOrd="1" destOrd="0" presId="urn:microsoft.com/office/officeart/2008/layout/LinedList"/>
    <dgm:cxn modelId="{64CCC390-8D1C-4ABF-87D9-D4FC2B8535F0}" type="presParOf" srcId="{BBF31690-541A-4A17-9198-29E405F0C25C}" destId="{77EA285F-5296-41C1-8D2B-024B8864898C}" srcOrd="2" destOrd="0" presId="urn:microsoft.com/office/officeart/2008/layout/LinedList"/>
    <dgm:cxn modelId="{2A20DAAF-0E9E-4EEB-B39A-C566B893CEEE}" type="presParOf" srcId="{BBF31690-541A-4A17-9198-29E405F0C25C}" destId="{34E8679A-B27B-4D3F-878B-730B5B6D03D1}" srcOrd="3" destOrd="0" presId="urn:microsoft.com/office/officeart/2008/layout/LinedList"/>
    <dgm:cxn modelId="{9814642C-7F9E-4F56-91D0-C9FAFDBF446A}" type="presParOf" srcId="{34E8679A-B27B-4D3F-878B-730B5B6D03D1}" destId="{F4C3B83A-4AF0-4939-AFD8-3D3EF009611E}" srcOrd="0" destOrd="0" presId="urn:microsoft.com/office/officeart/2008/layout/LinedList"/>
    <dgm:cxn modelId="{18170711-D665-41B1-BF8E-B826093F2317}" type="presParOf" srcId="{34E8679A-B27B-4D3F-878B-730B5B6D03D1}" destId="{E482C4C8-B42B-4591-B3FC-3888B866633E}" srcOrd="1" destOrd="0" presId="urn:microsoft.com/office/officeart/2008/layout/LinedList"/>
    <dgm:cxn modelId="{03F8EBBC-4C15-4F4F-B265-39E695E319DB}" type="presParOf" srcId="{BBF31690-541A-4A17-9198-29E405F0C25C}" destId="{D2E57B24-D4E0-4B5F-AF1F-83F6038B7C18}" srcOrd="4" destOrd="0" presId="urn:microsoft.com/office/officeart/2008/layout/LinedList"/>
    <dgm:cxn modelId="{3D58B57D-D6AE-468C-8150-C028AAB8CC44}" type="presParOf" srcId="{BBF31690-541A-4A17-9198-29E405F0C25C}" destId="{AEF53AAC-706C-4089-8EFF-75204DA61D5B}" srcOrd="5" destOrd="0" presId="urn:microsoft.com/office/officeart/2008/layout/LinedList"/>
    <dgm:cxn modelId="{72C39E68-EE19-4CD6-ABCE-F8129005F649}" type="presParOf" srcId="{AEF53AAC-706C-4089-8EFF-75204DA61D5B}" destId="{6F7407D2-82FF-4C82-997E-3C99C403CE51}" srcOrd="0" destOrd="0" presId="urn:microsoft.com/office/officeart/2008/layout/LinedList"/>
    <dgm:cxn modelId="{59483ADF-CE12-4469-BCCC-A67DA2382F6F}" type="presParOf" srcId="{AEF53AAC-706C-4089-8EFF-75204DA61D5B}" destId="{E8DBE4A5-3FD0-441E-8BBD-0F9736D7D108}" srcOrd="1" destOrd="0" presId="urn:microsoft.com/office/officeart/2008/layout/LinedList"/>
    <dgm:cxn modelId="{DD057915-403B-4D88-BAD3-F0AB749E7F2A}" type="presParOf" srcId="{BBF31690-541A-4A17-9198-29E405F0C25C}" destId="{1444A2A0-A4EC-4BE7-819D-495FC542ACED}" srcOrd="6" destOrd="0" presId="urn:microsoft.com/office/officeart/2008/layout/LinedList"/>
    <dgm:cxn modelId="{83E561A3-5893-406B-B255-3104F1EDE45C}" type="presParOf" srcId="{BBF31690-541A-4A17-9198-29E405F0C25C}" destId="{09D38702-C6D3-4F40-A83D-F0B8FC30B04F}" srcOrd="7" destOrd="0" presId="urn:microsoft.com/office/officeart/2008/layout/LinedList"/>
    <dgm:cxn modelId="{36766B9D-80A9-4330-9A60-A525E0E44FEA}" type="presParOf" srcId="{09D38702-C6D3-4F40-A83D-F0B8FC30B04F}" destId="{9ACC79CB-0F55-44CF-AA5D-FCDF4FE78F44}" srcOrd="0" destOrd="0" presId="urn:microsoft.com/office/officeart/2008/layout/LinedList"/>
    <dgm:cxn modelId="{9B4D026D-8912-4037-A486-6A8644F71B9B}" type="presParOf" srcId="{09D38702-C6D3-4F40-A83D-F0B8FC30B04F}" destId="{2EC256FC-3385-4E08-B1BC-AE6A8979A9EB}" srcOrd="1" destOrd="0" presId="urn:microsoft.com/office/officeart/2008/layout/Line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21143E8-67E4-4AAA-BB94-A1D0D50CB770}">
      <dsp:nvSpPr>
        <dsp:cNvPr id="0" name=""/>
        <dsp:cNvSpPr/>
      </dsp:nvSpPr>
      <dsp:spPr>
        <a:xfrm>
          <a:off x="0" y="0"/>
          <a:ext cx="9604256" cy="0"/>
        </a:xfrm>
        <a:prstGeom prst="line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2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459CBBCF-7FD8-4762-8F41-E50397F9804B}">
      <dsp:nvSpPr>
        <dsp:cNvPr id="0" name=""/>
        <dsp:cNvSpPr/>
      </dsp:nvSpPr>
      <dsp:spPr>
        <a:xfrm>
          <a:off x="0" y="0"/>
          <a:ext cx="9604256" cy="111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I dati hanno fatto propendere per l’adattamento di un modello teorico sul </a:t>
          </a:r>
          <a:r>
            <a:rPr lang="it-IT" sz="1700" kern="1200" dirty="0" err="1"/>
            <a:t>semivariogramma</a:t>
          </a:r>
          <a:r>
            <a:rPr lang="it-IT" sz="1700" kern="1200" dirty="0"/>
            <a:t> campionario robusto.</a:t>
          </a:r>
          <a:endParaRPr lang="en-US" sz="1700" kern="1200" dirty="0"/>
        </a:p>
      </dsp:txBody>
      <dsp:txXfrm>
        <a:off x="0" y="0"/>
        <a:ext cx="9604256" cy="1119474"/>
      </dsp:txXfrm>
    </dsp:sp>
    <dsp:sp modelId="{77EA285F-5296-41C1-8D2B-024B8864898C}">
      <dsp:nvSpPr>
        <dsp:cNvPr id="0" name=""/>
        <dsp:cNvSpPr/>
      </dsp:nvSpPr>
      <dsp:spPr>
        <a:xfrm>
          <a:off x="0" y="1119474"/>
          <a:ext cx="9604256" cy="0"/>
        </a:xfrm>
        <a:prstGeom prst="line">
          <a:avLst/>
        </a:prstGeom>
        <a:gradFill rotWithShape="0">
          <a:gsLst>
            <a:gs pos="0">
              <a:schemeClr val="accent3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3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F4C3B83A-4AF0-4939-AFD8-3D3EF009611E}">
      <dsp:nvSpPr>
        <dsp:cNvPr id="0" name=""/>
        <dsp:cNvSpPr/>
      </dsp:nvSpPr>
      <dsp:spPr>
        <a:xfrm>
          <a:off x="0" y="1119474"/>
          <a:ext cx="9604256" cy="111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Secondo </a:t>
          </a:r>
          <a:r>
            <a:rPr lang="en-US" sz="1700" kern="1200" dirty="0" err="1"/>
            <a:t>gli</a:t>
          </a:r>
          <a:r>
            <a:rPr lang="en-US" sz="1700" kern="1200" dirty="0"/>
            <a:t> </a:t>
          </a:r>
          <a:r>
            <a:rPr lang="en-US" sz="1700" kern="1200" dirty="0" err="1"/>
            <a:t>SSErr</a:t>
          </a:r>
          <a:r>
            <a:rPr lang="en-US" sz="1700" kern="1200" dirty="0"/>
            <a:t> il </a:t>
          </a:r>
          <a:r>
            <a:rPr lang="en-US" sz="1700" kern="1200" dirty="0" err="1"/>
            <a:t>modello</a:t>
          </a:r>
          <a:r>
            <a:rPr lang="en-US" sz="1700" kern="1200" dirty="0"/>
            <a:t> </a:t>
          </a:r>
          <a:r>
            <a:rPr lang="en-US" sz="1700" kern="1200" dirty="0" err="1"/>
            <a:t>teorico</a:t>
          </a:r>
          <a:r>
            <a:rPr lang="en-US" sz="1700" kern="1200" dirty="0"/>
            <a:t> </a:t>
          </a:r>
          <a:r>
            <a:rPr lang="en-US" sz="1700" kern="1200" dirty="0" err="1"/>
            <a:t>che</a:t>
          </a:r>
          <a:r>
            <a:rPr lang="en-US" sz="1700" kern="1200" dirty="0"/>
            <a:t> </a:t>
          </a:r>
          <a:r>
            <a:rPr lang="en-US" sz="1700" kern="1200" dirty="0" err="1"/>
            <a:t>si</a:t>
          </a:r>
          <a:r>
            <a:rPr lang="en-US" sz="1700" kern="1200" dirty="0"/>
            <a:t> </a:t>
          </a:r>
          <a:r>
            <a:rPr lang="en-US" sz="1700" kern="1200" dirty="0" err="1"/>
            <a:t>adatta</a:t>
          </a:r>
          <a:r>
            <a:rPr lang="en-US" sz="1700" kern="1200" dirty="0"/>
            <a:t> </a:t>
          </a:r>
          <a:r>
            <a:rPr lang="en-US" sz="1700" kern="1200" dirty="0" err="1"/>
            <a:t>meglio</a:t>
          </a:r>
          <a:r>
            <a:rPr lang="en-US" sz="1700" kern="1200" dirty="0"/>
            <a:t> è </a:t>
          </a:r>
          <a:r>
            <a:rPr lang="en-US" sz="1700" kern="1200" dirty="0" err="1"/>
            <a:t>quello</a:t>
          </a:r>
          <a:r>
            <a:rPr lang="en-US" sz="1700" kern="1200" dirty="0"/>
            <a:t> </a:t>
          </a:r>
          <a:r>
            <a:rPr lang="en-US" sz="1700" kern="1200" dirty="0" err="1"/>
            <a:t>sferico</a:t>
          </a:r>
          <a:r>
            <a:rPr lang="en-US" sz="1700" kern="1200" dirty="0"/>
            <a:t> </a:t>
          </a:r>
          <a:r>
            <a:rPr lang="en-US" sz="1700" kern="1200" dirty="0" err="1"/>
            <a:t>tuttavia</a:t>
          </a:r>
          <a:r>
            <a:rPr lang="en-US" sz="1700" kern="1200" dirty="0"/>
            <a:t> per la </a:t>
          </a:r>
          <a:r>
            <a:rPr lang="en-US" sz="1700" kern="1200" dirty="0" err="1"/>
            <a:t>scelta</a:t>
          </a:r>
          <a:r>
            <a:rPr lang="en-US" sz="1700" kern="1200" dirty="0"/>
            <a:t> </a:t>
          </a:r>
          <a:r>
            <a:rPr lang="en-US" sz="1700" kern="1200" dirty="0" err="1"/>
            <a:t>definitiva</a:t>
          </a:r>
          <a:r>
            <a:rPr lang="en-US" sz="1700" kern="1200" dirty="0"/>
            <a:t> </a:t>
          </a:r>
          <a:r>
            <a:rPr lang="en-US" sz="1700" kern="1200" dirty="0" err="1"/>
            <a:t>bisogna</a:t>
          </a:r>
          <a:r>
            <a:rPr lang="en-US" sz="1700" kern="1200" dirty="0"/>
            <a:t> </a:t>
          </a:r>
          <a:r>
            <a:rPr lang="en-US" sz="1700" kern="1200" dirty="0" err="1"/>
            <a:t>tenere</a:t>
          </a:r>
          <a:r>
            <a:rPr lang="en-US" sz="1700" kern="1200" dirty="0"/>
            <a:t> in </a:t>
          </a:r>
          <a:r>
            <a:rPr lang="en-US" sz="1700" kern="1200" dirty="0" err="1"/>
            <a:t>considerazione</a:t>
          </a:r>
          <a:r>
            <a:rPr lang="en-US" sz="1700" kern="1200" dirty="0"/>
            <a:t> </a:t>
          </a:r>
          <a:r>
            <a:rPr lang="en-US" sz="1700" kern="1200" dirty="0" err="1"/>
            <a:t>tutta</a:t>
          </a:r>
          <a:r>
            <a:rPr lang="en-US" sz="1700" kern="1200" dirty="0"/>
            <a:t> la </a:t>
          </a:r>
          <a:r>
            <a:rPr lang="en-US" sz="1700" kern="1200" dirty="0" err="1"/>
            <a:t>parte</a:t>
          </a:r>
          <a:r>
            <a:rPr lang="en-US" sz="1700" kern="1200" dirty="0"/>
            <a:t> </a:t>
          </a:r>
          <a:r>
            <a:rPr lang="en-US" sz="1700" kern="1200" dirty="0" err="1"/>
            <a:t>successiva</a:t>
          </a:r>
          <a:r>
            <a:rPr lang="en-US" sz="1700" kern="1200" dirty="0"/>
            <a:t> </a:t>
          </a:r>
          <a:r>
            <a:rPr lang="en-US" sz="1700" kern="1200" dirty="0" err="1"/>
            <a:t>che</a:t>
          </a:r>
          <a:r>
            <a:rPr lang="en-US" sz="1700" kern="1200" dirty="0"/>
            <a:t> </a:t>
          </a:r>
          <a:r>
            <a:rPr lang="en-US" sz="1700" kern="1200" dirty="0" err="1"/>
            <a:t>utilizza</a:t>
          </a:r>
          <a:r>
            <a:rPr lang="en-US" sz="1700" kern="1200" dirty="0"/>
            <a:t> il </a:t>
          </a:r>
          <a:r>
            <a:rPr lang="en-US" sz="1700" kern="1200" dirty="0" err="1"/>
            <a:t>variogramma</a:t>
          </a:r>
          <a:r>
            <a:rPr lang="en-US" sz="1700" kern="1200" dirty="0"/>
            <a:t> per fare </a:t>
          </a:r>
          <a:r>
            <a:rPr lang="en-US" sz="1700" kern="1200" dirty="0" err="1"/>
            <a:t>previsione</a:t>
          </a:r>
          <a:r>
            <a:rPr lang="en-US" sz="1700" kern="1200" dirty="0"/>
            <a:t>.</a:t>
          </a:r>
        </a:p>
      </dsp:txBody>
      <dsp:txXfrm>
        <a:off x="0" y="1119474"/>
        <a:ext cx="9604256" cy="1119474"/>
      </dsp:txXfrm>
    </dsp:sp>
    <dsp:sp modelId="{D2E57B24-D4E0-4B5F-AF1F-83F6038B7C18}">
      <dsp:nvSpPr>
        <dsp:cNvPr id="0" name=""/>
        <dsp:cNvSpPr/>
      </dsp:nvSpPr>
      <dsp:spPr>
        <a:xfrm>
          <a:off x="0" y="2238949"/>
          <a:ext cx="9604256" cy="0"/>
        </a:xfrm>
        <a:prstGeom prst="line">
          <a:avLst/>
        </a:prstGeom>
        <a:gradFill rotWithShape="0">
          <a:gsLst>
            <a:gs pos="0">
              <a:schemeClr val="accent4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4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4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6F7407D2-82FF-4C82-997E-3C99C403CE51}">
      <dsp:nvSpPr>
        <dsp:cNvPr id="0" name=""/>
        <dsp:cNvSpPr/>
      </dsp:nvSpPr>
      <dsp:spPr>
        <a:xfrm>
          <a:off x="0" y="2238949"/>
          <a:ext cx="9604256" cy="111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La verifica dell’isotropia analizzando i </a:t>
          </a:r>
          <a:r>
            <a:rPr lang="it-IT" sz="1700" kern="1200" dirty="0" err="1"/>
            <a:t>variogrammi</a:t>
          </a:r>
          <a:r>
            <a:rPr lang="it-IT" sz="1700" kern="1200" dirty="0"/>
            <a:t> direzionali ci fa rimanere dubbi sul fatto che ci sia invarianza da direzione: i </a:t>
          </a:r>
          <a:r>
            <a:rPr lang="it-IT" sz="1700" kern="1200" dirty="0" err="1"/>
            <a:t>variogrammi</a:t>
          </a:r>
          <a:r>
            <a:rPr lang="it-IT" sz="1700" kern="1200" dirty="0"/>
            <a:t> differiscono abbastanza, serviranno ulteriori analisi e possibili soluzioni.</a:t>
          </a:r>
          <a:endParaRPr lang="en-US" sz="1700" kern="1200" dirty="0"/>
        </a:p>
      </dsp:txBody>
      <dsp:txXfrm>
        <a:off x="0" y="2238949"/>
        <a:ext cx="9604256" cy="1119474"/>
      </dsp:txXfrm>
    </dsp:sp>
    <dsp:sp modelId="{1444A2A0-A4EC-4BE7-819D-495FC542ACED}">
      <dsp:nvSpPr>
        <dsp:cNvPr id="0" name=""/>
        <dsp:cNvSpPr/>
      </dsp:nvSpPr>
      <dsp:spPr>
        <a:xfrm>
          <a:off x="0" y="3358424"/>
          <a:ext cx="9604256" cy="0"/>
        </a:xfrm>
        <a:prstGeom prst="line">
          <a:avLst/>
        </a:prstGeom>
        <a:gradFill rotWithShape="0">
          <a:gsLst>
            <a:gs pos="0">
              <a:schemeClr val="accent5">
                <a:hueOff val="0"/>
                <a:satOff val="0"/>
                <a:lumOff val="0"/>
                <a:alphaOff val="0"/>
                <a:tint val="96000"/>
                <a:lumMod val="104000"/>
              </a:schemeClr>
            </a:gs>
            <a:gs pos="100000">
              <a:schemeClr val="accent5">
                <a:hueOff val="0"/>
                <a:satOff val="0"/>
                <a:lumOff val="0"/>
                <a:alphaOff val="0"/>
                <a:shade val="98000"/>
                <a:lumMod val="94000"/>
              </a:schemeClr>
            </a:gs>
          </a:gsLst>
          <a:lin ang="5400000" scaled="0"/>
        </a:gradFill>
        <a:ln w="9525" cap="rnd" cmpd="sng" algn="ctr">
          <a:solidFill>
            <a:schemeClr val="accent5">
              <a:hueOff val="0"/>
              <a:satOff val="0"/>
              <a:lumOff val="0"/>
              <a:alphaOff val="0"/>
            </a:schemeClr>
          </a:solidFill>
          <a:prstDash val="solid"/>
        </a:ln>
        <a:effectLst>
          <a:outerShdw blurRad="38100" dist="25400" dir="5400000" rotWithShape="0">
            <a:srgbClr val="000000">
              <a:alpha val="25000"/>
            </a:srgbClr>
          </a:outerShdw>
        </a:effectLst>
      </dsp:spPr>
      <dsp:style>
        <a:lnRef idx="1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</dsp:sp>
    <dsp:sp modelId="{9ACC79CB-0F55-44CF-AA5D-FCDF4FE78F44}">
      <dsp:nvSpPr>
        <dsp:cNvPr id="0" name=""/>
        <dsp:cNvSpPr/>
      </dsp:nvSpPr>
      <dsp:spPr>
        <a:xfrm>
          <a:off x="0" y="3358424"/>
          <a:ext cx="9604256" cy="1119474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it-IT" sz="1700" kern="1200" dirty="0"/>
            <a:t>Riuscire ad aver un buon adattamento di un </a:t>
          </a:r>
          <a:r>
            <a:rPr lang="it-IT" sz="1700" kern="1200" dirty="0" err="1"/>
            <a:t>variogramma</a:t>
          </a:r>
          <a:r>
            <a:rPr lang="it-IT" sz="1700" kern="1200" dirty="0"/>
            <a:t> teorico ad uno campionario è complicato, soprattutto se i dati non sono molti e presentano valori anomali. Nonostante questo fare </a:t>
          </a:r>
          <a:r>
            <a:rPr lang="it-IT" sz="1700" kern="1200" dirty="0" err="1"/>
            <a:t>variografia</a:t>
          </a:r>
          <a:r>
            <a:rPr lang="it-IT" sz="1700" kern="1200" dirty="0"/>
            <a:t> rimane un processo fondamentale e necessario per fare previsione spaziale.</a:t>
          </a:r>
          <a:endParaRPr lang="en-US" sz="1700" kern="1200" dirty="0"/>
        </a:p>
      </dsp:txBody>
      <dsp:txXfrm>
        <a:off x="0" y="3358424"/>
        <a:ext cx="9604256" cy="1119474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8/layout/LinedList">
  <dgm:title val=""/>
  <dgm:desc val=""/>
  <dgm:catLst>
    <dgm:cat type="hierarchy" pri="8000"/>
    <dgm:cat type="list" pri="25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13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  <dgm:cxn modelId="5" srcId="1" destId="1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</dgm:ptLst>
      <dgm:cxnLst>
        <dgm:cxn modelId="2" srcId="0" destId="1" srcOrd="0" destOrd="0"/>
        <dgm:cxn modelId="3" srcId="1" destId="11" srcOrd="0" destOrd="0"/>
        <dgm:cxn modelId="4" srcId="1" destId="12" srcOrd="1" destOrd="0"/>
      </dgm:cxnLst>
      <dgm:bg/>
      <dgm:whole/>
    </dgm:dataModel>
  </dgm:clrData>
  <dgm:layoutNode name="vert0">
    <dgm:varLst>
      <dgm:dir/>
      <dgm:animOne val="branch"/>
      <dgm:animLvl val="lvl"/>
    </dgm:varLst>
    <dgm:choose name="Name0">
      <dgm:if name="Name1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horz1" refType="w"/>
      <dgm:constr type="h" for="ch" forName="horz1" refType="h"/>
      <dgm:constr type="h" for="des" forName="vert1" refType="h"/>
      <dgm:constr type="h" for="des" forName="tx1" refType="h"/>
      <dgm:constr type="h" for="des" forName="horz2" refType="h"/>
      <dgm:constr type="h" for="des" forName="vert2" refType="h"/>
      <dgm:constr type="h" for="des" forName="horz3" refType="h"/>
      <dgm:constr type="h" for="des" forName="vert3" refType="h"/>
      <dgm:constr type="h" for="des" forName="horz4" refType="h"/>
      <dgm:constr type="h" for="des" ptType="node" refType="h"/>
      <dgm:constr type="primFontSz" for="des" forName="tx1" op="equ" val="65"/>
      <dgm:constr type="primFontSz" for="des" forName="tx2" op="equ" val="65"/>
      <dgm:constr type="primFontSz" for="des" forName="tx3" op="equ" val="65"/>
      <dgm:constr type="primFontSz" for="des" forName="tx4" op="equ" val="65"/>
      <dgm:constr type="w" for="des" forName="thickLine" refType="w"/>
      <dgm:constr type="h" for="des" forName="thickLine"/>
      <dgm:constr type="h" for="des" forName="thinLine1"/>
      <dgm:constr type="h" for="des" forName="thinLine2b"/>
      <dgm:constr type="h" for="des" forName="thinLine3"/>
      <dgm:constr type="h" for="des" forName="vertSpace2a" refType="h" fact="0.05"/>
      <dgm:constr type="h" for="des" forName="vertSpace2b" refType="h" refFor="des" refForName="vertSpace2a"/>
    </dgm:constrLst>
    <dgm:forEach name="Name3" axis="ch" ptType="node">
      <dgm:layoutNode name="thickLine" styleLbl="alignNode1">
        <dgm:alg type="sp"/>
        <dgm:shape xmlns:r="http://schemas.openxmlformats.org/officeDocument/2006/relationships" type="line" r:blip="">
          <dgm:adjLst/>
        </dgm:shape>
        <dgm:presOf/>
      </dgm:layoutNode>
      <dgm:layoutNode name="horz1">
        <dgm:choose name="Name4">
          <dgm:if name="Name5" func="var" arg="dir" op="equ" val="norm">
            <dgm:alg type="lin">
              <dgm:param type="linDir" val="fromL"/>
              <dgm:param type="nodeVertAlign" val="t"/>
            </dgm:alg>
          </dgm:if>
          <dgm:else name="Name6">
            <dgm:alg type="lin">
              <dgm:param type="linDir" val="fromR"/>
              <dgm:param type="nodeVertAlign" val="t"/>
            </dgm:alg>
          </dgm:else>
        </dgm:choose>
        <dgm:shape xmlns:r="http://schemas.openxmlformats.org/officeDocument/2006/relationships" r:blip="">
          <dgm:adjLst/>
        </dgm:shape>
        <dgm:presOf/>
        <dgm:choose name="Name7">
          <dgm:if name="Name8" axis="root des" func="maxDepth" op="equ" val="1">
            <dgm:constrLst>
              <dgm:constr type="w" for="ch" forName="tx1" refType="w"/>
            </dgm:constrLst>
          </dgm:if>
          <dgm:if name="Name9" axis="root des" func="maxDepth" op="equ" val="2">
            <dgm:constrLst>
              <dgm:constr type="w" for="ch" forName="tx1" refType="w" fact="0.2"/>
              <dgm:constr type="w" for="des" forName="tx2" refType="w" fact="0.785"/>
              <dgm:constr type="w" for="des" forName="horzSpace2" refType="w" fact="0.015"/>
              <dgm:constr type="w" for="des" forName="thinLine2b" refType="w" fact="0.8"/>
            </dgm:constrLst>
          </dgm:if>
          <dgm:if name="Name10" axis="root des" func="maxDepth" op="equ" val="3">
            <dgm:constrLst>
              <dgm:constr type="w" for="ch" forName="tx1" refType="w" fact="0.2"/>
              <dgm:constr type="w" for="des" forName="tx2" refType="w" fact="0.385"/>
              <dgm:constr type="w" for="des" forName="tx3" refType="w" fact="0.385"/>
              <dgm:constr type="w" for="des" forName="horzSpace2" refType="w" fact="0.015"/>
              <dgm:constr type="w" for="des" forName="horzSpace3" refType="w" fact="0.015"/>
              <dgm:constr type="w" for="des" forName="thinLine2b" refType="w" fact="0.8"/>
              <dgm:constr type="w" for="des" forName="thinLine3" refType="w" fact="0.385"/>
            </dgm:constrLst>
          </dgm:if>
          <dgm:if name="Name11" axis="root des" func="maxDepth" op="gte" val="4">
            <dgm:constrLst>
              <dgm:constr type="w" for="ch" forName="tx1" refType="w" fact="0.2"/>
              <dgm:constr type="w" for="des" forName="tx2" refType="w" fact="0.2516"/>
              <dgm:constr type="w" for="des" forName="tx3" refType="w" fact="0.2516"/>
              <dgm:constr type="w" for="des" forName="tx4" refType="w" fact="0.2516"/>
              <dgm:constr type="w" for="des" forName="horzSpace2" refType="w" fact="0.015"/>
              <dgm:constr type="w" for="des" forName="horzSpace3" refType="w" fact="0.015"/>
              <dgm:constr type="w" for="des" forName="horzSpace4" refType="w" fact="0.015"/>
              <dgm:constr type="w" for="des" forName="thinLine2b" refType="w" fact="0.8"/>
              <dgm:constr type="w" for="des" forName="thinLine3" refType="w" fact="0.5332"/>
            </dgm:constrLst>
          </dgm:if>
          <dgm:else name="Name12"/>
        </dgm:choose>
        <dgm:layoutNode name="tx1" styleLbl="revTx">
          <dgm:alg type="tx">
            <dgm:param type="parTxLTRAlign" val="l"/>
            <dgm:param type="parTxRTLAlign" val="r"/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/>
          <dgm:constrLst>
            <dgm:constr type="tMarg" refType="primFontSz" fact="0.3"/>
            <dgm:constr type="bMarg" refType="primFontSz" fact="0.3"/>
            <dgm:constr type="lMarg" refType="primFontSz" fact="0.3"/>
            <dgm:constr type="rMarg" refType="primFontSz" fact="0.3"/>
          </dgm:constrLst>
          <dgm:ruleLst>
            <dgm:rule type="primFontSz" val="5" fact="NaN" max="NaN"/>
          </dgm:ruleLst>
        </dgm:layoutNode>
        <dgm:layoutNode name="vert1">
          <dgm:choose name="Name13">
            <dgm:if name="Name14" func="var" arg="dir" op="equ" val="norm">
              <dgm:alg type="lin">
                <dgm:param type="linDir" val="fromT"/>
                <dgm:param type="nodeHorzAlign" val="l"/>
              </dgm:alg>
            </dgm:if>
            <dgm:else name="Name15">
              <dgm:alg type="lin">
                <dgm:param type="linDir" val="fromT"/>
                <dgm:param type="nodeHorzAlign" val="r"/>
              </dgm:alg>
            </dgm:else>
          </dgm:choose>
          <dgm:shape xmlns:r="http://schemas.openxmlformats.org/officeDocument/2006/relationships" r:blip="">
            <dgm:adjLst/>
          </dgm:shape>
          <dgm:presOf/>
          <dgm:forEach name="Name16" axis="ch" ptType="node">
            <dgm:choose name="Name17">
              <dgm:if name="Name18" axis="self" ptType="node" func="pos" op="equ" val="1">
                <dgm:layoutNode name="vertSpace2a">
                  <dgm:alg type="sp"/>
                  <dgm:shape xmlns:r="http://schemas.openxmlformats.org/officeDocument/2006/relationships" r:blip="">
                    <dgm:adjLst/>
                  </dgm:shape>
                  <dgm:presOf/>
                </dgm:layoutNode>
              </dgm:if>
              <dgm:else name="Name19"/>
            </dgm:choose>
            <dgm:layoutNode name="horz2">
              <dgm:choose name="Name20">
                <dgm:if name="Name21" func="var" arg="dir" op="equ" val="norm">
                  <dgm:alg type="lin">
                    <dgm:param type="linDir" val="fromL"/>
                    <dgm:param type="nodeVertAlign" val="t"/>
                  </dgm:alg>
                </dgm:if>
                <dgm:else name="Name22">
                  <dgm:alg type="lin">
                    <dgm:param type="linDir" val="fromR"/>
                    <dgm:param type="nodeVertAlign" val="t"/>
                  </dgm:alg>
                </dgm:else>
              </dgm:choose>
              <dgm:shape xmlns:r="http://schemas.openxmlformats.org/officeDocument/2006/relationships" r:blip="">
                <dgm:adjLst/>
              </dgm:shape>
              <dgm:presOf/>
              <dgm:layoutNode name="horzSpace2">
                <dgm:alg type="sp"/>
                <dgm:shape xmlns:r="http://schemas.openxmlformats.org/officeDocument/2006/relationships" r:blip="">
                  <dgm:adjLst/>
                </dgm:shape>
                <dgm:presOf/>
              </dgm:layoutNode>
              <dgm:layoutNode name="tx2" styleLbl="revTx">
                <dgm:alg type="tx">
                  <dgm:param type="parTxLTRAlign" val="l"/>
                  <dgm:param type="parTxRTLAlign" val="r"/>
                  <dgm:param type="txAnchorVert" val="t"/>
                </dgm:alg>
                <dgm:shape xmlns:r="http://schemas.openxmlformats.org/officeDocument/2006/relationships" type="rect" r:blip="">
                  <dgm:adjLst/>
                </dgm:shape>
                <dgm:presOf axis="self"/>
                <dgm:constrLst>
                  <dgm:constr type="tMarg" refType="primFontSz" fact="0.3"/>
                  <dgm:constr type="bMarg" refType="primFontSz" fact="0.3"/>
                  <dgm:constr type="lMarg" refType="primFontSz" fact="0.3"/>
                  <dgm:constr type="rMarg" refType="primFontSz" fact="0.3"/>
                </dgm:constrLst>
                <dgm:ruleLst>
                  <dgm:rule type="primFontSz" val="5" fact="NaN" max="NaN"/>
                </dgm:ruleLst>
              </dgm:layoutNode>
              <dgm:layoutNode name="vert2">
                <dgm:choose name="Name23">
                  <dgm:if name="Name24" func="var" arg="dir" op="equ" val="norm">
                    <dgm:alg type="lin">
                      <dgm:param type="linDir" val="fromT"/>
                      <dgm:param type="nodeHorzAlign" val="l"/>
                    </dgm:alg>
                  </dgm:if>
                  <dgm:else name="Name25">
                    <dgm:alg type="lin">
                      <dgm:param type="linDir" val="fromT"/>
                      <dgm:param type="nodeHorzAlign" val="r"/>
                    </dgm:alg>
                  </dgm:else>
                </dgm:choose>
                <dgm:shape xmlns:r="http://schemas.openxmlformats.org/officeDocument/2006/relationships" r:blip="">
                  <dgm:adjLst/>
                </dgm:shape>
                <dgm:presOf/>
                <dgm:forEach name="Name26" axis="ch" ptType="node">
                  <dgm:layoutNode name="horz3">
                    <dgm:choose name="Name27">
                      <dgm:if name="Name28" func="var" arg="dir" op="equ" val="norm">
                        <dgm:alg type="lin">
                          <dgm:param type="linDir" val="fromL"/>
                          <dgm:param type="nodeVertAlign" val="t"/>
                        </dgm:alg>
                      </dgm:if>
                      <dgm:else name="Name29">
                        <dgm:alg type="lin">
                          <dgm:param type="linDir" val="fromR"/>
                          <dgm:param type="nodeVertAlign" val="t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layoutNode name="horzSpace3">
                      <dgm:alg type="sp"/>
                      <dgm:shape xmlns:r="http://schemas.openxmlformats.org/officeDocument/2006/relationships" r:blip="">
                        <dgm:adjLst/>
                      </dgm:shape>
                      <dgm:presOf/>
                    </dgm:layoutNode>
                    <dgm:layoutNode name="tx3" styleLbl="revTx">
                      <dgm:alg type="tx">
                        <dgm:param type="parTxLTRAlign" val="l"/>
                        <dgm:param type="parTxRTLAlign" val="r"/>
                        <dgm:param type="txAnchorVert" val="t"/>
                      </dgm:alg>
                      <dgm:shape xmlns:r="http://schemas.openxmlformats.org/officeDocument/2006/relationships" type="rect" r:blip="">
                        <dgm:adjLst/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vert3">
                      <dgm:choose name="Name30">
                        <dgm:if name="Name31" func="var" arg="dir" op="equ" val="norm">
                          <dgm:alg type="lin">
                            <dgm:param type="linDir" val="fromT"/>
                            <dgm:param type="nodeHorzAlign" val="l"/>
                          </dgm:alg>
                        </dgm:if>
                        <dgm:else name="Name32">
                          <dgm:alg type="lin">
                            <dgm:param type="linDir" val="fromT"/>
                            <dgm:param type="nodeHorzAlign" val="r"/>
                          </dgm:alg>
                        </dgm:else>
                      </dgm:choose>
                      <dgm:shape xmlns:r="http://schemas.openxmlformats.org/officeDocument/2006/relationships" r:blip="">
                        <dgm:adjLst/>
                      </dgm:shape>
                      <dgm:presOf/>
                      <dgm:forEach name="Name33" axis="ch" ptType="node">
                        <dgm:layoutNode name="horz4">
                          <dgm:choose name="Name34">
                            <dgm:if name="Name35" func="var" arg="dir" op="equ" val="norm">
                              <dgm:alg type="lin">
                                <dgm:param type="linDir" val="fromL"/>
                                <dgm:param type="nodeVertAlign" val="t"/>
                              </dgm:alg>
                            </dgm:if>
                            <dgm:else name="Name36">
                              <dgm:alg type="lin">
                                <dgm:param type="linDir" val="fromR"/>
                                <dgm:param type="nodeVertAlign" val="t"/>
                              </dgm:alg>
                            </dgm:else>
                          </dgm:choose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layoutNode name="horzSpace4">
                            <dgm:alg type="sp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</dgm:layoutNode>
                          <dgm:layoutNode name="tx4" styleLbl="revTx">
                            <dgm:varLst>
                              <dgm:bulletEnabled val="1"/>
                            </dgm:varLst>
                            <dgm:alg type="tx">
                              <dgm:param type="parTxLTRAlign" val="l"/>
                              <dgm:param type="parTxRTLAlign" val="r"/>
                              <dgm:param type="txAnchorVert" val="t"/>
                            </dgm:alg>
                            <dgm:shape xmlns:r="http://schemas.openxmlformats.org/officeDocument/2006/relationships" type="rect" r:blip="">
                              <dgm:adjLst/>
                            </dgm:shape>
                            <dgm:presOf axis="desOrSelf" ptType="node"/>
                            <dgm:constrLst>
                              <dgm:constr type="tMarg" refType="primFontSz" fact="0.3"/>
                              <dgm:constr type="bMarg" refType="primFontSz" fact="0.3"/>
                              <dgm:constr type="lMarg" refType="primFontSz" fact="0.3"/>
                              <dgm:constr type="rMarg" refType="primFontSz" fact="0.3"/>
                            </dgm:constrLst>
                            <dgm:ruleLst>
                              <dgm:rule type="primFontSz" val="5" fact="NaN" max="NaN"/>
                            </dgm:ruleLst>
                          </dgm:layoutNode>
                        </dgm:layoutNode>
                      </dgm:forEach>
                    </dgm:layoutNode>
                  </dgm:layoutNode>
                  <dgm:forEach name="Name37" axis="followSib" ptType="sibTrans" cnt="1">
                    <dgm:layoutNode name="thinLine3" styleLbl="callout">
                      <dgm:alg type="sp"/>
                      <dgm:shape xmlns:r="http://schemas.openxmlformats.org/officeDocument/2006/relationships" type="line" r:blip="">
                        <dgm:adjLst/>
                      </dgm:shape>
                      <dgm:presOf/>
                    </dgm:layoutNode>
                  </dgm:forEach>
                </dgm:forEach>
              </dgm:layoutNode>
            </dgm:layoutNode>
            <dgm:layoutNode name="thinLine2b" styleLbl="callout">
              <dgm:alg type="sp"/>
              <dgm:shape xmlns:r="http://schemas.openxmlformats.org/officeDocument/2006/relationships" type="line" r:blip="">
                <dgm:adjLst/>
              </dgm:shape>
              <dgm:presOf/>
            </dgm:layoutNode>
            <dgm:layoutNode name="vertSpace2b">
              <dgm:alg type="sp"/>
              <dgm:shape xmlns:r="http://schemas.openxmlformats.org/officeDocument/2006/relationships" r:blip="">
                <dgm:adjLst/>
              </dgm:shape>
              <dgm:presOf/>
            </dgm:layoutNode>
          </dgm:forEach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1B13815-3E6B-4FE4-A5A0-4312065A114A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02FE4E-7DA3-4807-974F-479D114FB71C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03792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2FE4E-7DA3-4807-974F-479D114FB71C}" type="slidenum">
              <a:rPr lang="it-IT" smtClean="0"/>
              <a:t>8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3467767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mmagin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egnaposto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it-IT" dirty="0"/>
          </a:p>
        </p:txBody>
      </p:sp>
      <p:sp>
        <p:nvSpPr>
          <p:cNvPr id="4" name="Segnaposto numero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402FE4E-7DA3-4807-974F-479D114FB71C}" type="slidenum">
              <a:rPr lang="it-IT" smtClean="0"/>
              <a:t>13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47067764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it-IT"/>
              <a:t>Fare clic per modificare lo stile del sottotitolo dello schema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612154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85085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61320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710945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769337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66348757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39172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16384628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it-IT"/>
              <a:t>Fare clic sull'icona per inserire un'immagine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9710117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olo e sotto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4604658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zio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5275830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70980791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cheda nome cita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4975023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it-IT"/>
              <a:t>Fare clic per modificare gli stili del testo dello schema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2479779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0284326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344697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it-IT"/>
              <a:t>Fare clic per modificare lo stile del titolo dello schema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C96FB5-0FDF-4236-AA97-261C98FF2418}" type="datetimeFigureOut">
              <a:rPr lang="it-IT" smtClean="0"/>
              <a:t>18/12/2024</a:t>
            </a:fld>
            <a:endParaRPr lang="it-IT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ABD8ED56-91FB-4725-BCEA-F5F2944C311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10842321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12" r:id="rId1"/>
    <p:sldLayoutId id="2147483813" r:id="rId2"/>
    <p:sldLayoutId id="2147483814" r:id="rId3"/>
    <p:sldLayoutId id="2147483815" r:id="rId4"/>
    <p:sldLayoutId id="2147483816" r:id="rId5"/>
    <p:sldLayoutId id="2147483817" r:id="rId6"/>
    <p:sldLayoutId id="2147483818" r:id="rId7"/>
    <p:sldLayoutId id="2147483819" r:id="rId8"/>
    <p:sldLayoutId id="2147483820" r:id="rId9"/>
    <p:sldLayoutId id="2147483821" r:id="rId10"/>
    <p:sldLayoutId id="2147483822" r:id="rId11"/>
    <p:sldLayoutId id="2147483823" r:id="rId12"/>
    <p:sldLayoutId id="2147483824" r:id="rId13"/>
    <p:sldLayoutId id="2147483825" r:id="rId14"/>
    <p:sldLayoutId id="2147483826" r:id="rId15"/>
    <p:sldLayoutId id="2147483827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11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4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67E7D0-BA6D-93AA-456C-451E735707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85792" y="2036842"/>
            <a:ext cx="8915399" cy="2262781"/>
          </a:xfrm>
        </p:spPr>
        <p:txBody>
          <a:bodyPr>
            <a:normAutofit/>
          </a:bodyPr>
          <a:lstStyle/>
          <a:p>
            <a:r>
              <a:rPr lang="it-IT" dirty="0"/>
              <a:t>STATISTICA SPAZIALE</a:t>
            </a:r>
            <a:br>
              <a:rPr lang="it-IT" dirty="0"/>
            </a:br>
            <a:r>
              <a:rPr lang="it-IT" dirty="0"/>
              <a:t>I dati geostatistici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6AEB498C-236E-185D-0F2A-2C3218DBDE6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985792" y="4299623"/>
            <a:ext cx="8915399" cy="1126283"/>
          </a:xfrm>
        </p:spPr>
        <p:txBody>
          <a:bodyPr>
            <a:normAutofit fontScale="92500" lnSpcReduction="10000"/>
          </a:bodyPr>
          <a:lstStyle/>
          <a:p>
            <a:r>
              <a:rPr lang="it-IT" sz="4000" dirty="0"/>
              <a:t>La concentrazione di Biossido di azoto (NO2) in Piemonte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2E6C33C0-A801-CDE8-7611-097DFFF8F0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534061" y="655238"/>
            <a:ext cx="1902117" cy="944962"/>
          </a:xfrm>
          <a:prstGeom prst="rect">
            <a:avLst/>
          </a:prstGeom>
        </p:spPr>
      </p:pic>
      <p:pic>
        <p:nvPicPr>
          <p:cNvPr id="5" name="Immagine 4">
            <a:extLst>
              <a:ext uri="{FF2B5EF4-FFF2-40B4-BE49-F238E27FC236}">
                <a16:creationId xmlns:a16="http://schemas.microsoft.com/office/drawing/2014/main" id="{CE484C4C-9C02-8608-B55D-9C795467163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587" y="207883"/>
            <a:ext cx="1219306" cy="1828959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A85FA8F2-BDB9-B913-CAEA-B1AB5701F667}"/>
              </a:ext>
            </a:extLst>
          </p:cNvPr>
          <p:cNvSpPr txBox="1"/>
          <p:nvPr/>
        </p:nvSpPr>
        <p:spPr>
          <a:xfrm>
            <a:off x="9173497" y="5723874"/>
            <a:ext cx="370184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dirty="0"/>
              <a:t>Massimo Armano</a:t>
            </a:r>
          </a:p>
        </p:txBody>
      </p:sp>
    </p:spTree>
    <p:extLst>
      <p:ext uri="{BB962C8B-B14F-4D97-AF65-F5344CB8AC3E}">
        <p14:creationId xmlns:p14="http://schemas.microsoft.com/office/powerpoint/2010/main" val="35021974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9D117005-93B7-41BD-808B-8871D911D9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 dirty="0"/>
              <a:t>Il Biossido di Azoto</a:t>
            </a:r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AB23D3BA-717C-FA2F-047F-59342611C40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583185" y="1519084"/>
            <a:ext cx="2900892" cy="4351338"/>
          </a:xfrm>
          <a:prstGeom prst="rect">
            <a:avLst/>
          </a:prstGeom>
        </p:spPr>
      </p:pic>
      <p:sp>
        <p:nvSpPr>
          <p:cNvPr id="5" name="CasellaDiTesto 4">
            <a:extLst>
              <a:ext uri="{FF2B5EF4-FFF2-40B4-BE49-F238E27FC236}">
                <a16:creationId xmlns:a16="http://schemas.microsoft.com/office/drawing/2014/main" id="{039F7B7A-99A1-A341-0CA0-CB563CD6189C}"/>
              </a:ext>
            </a:extLst>
          </p:cNvPr>
          <p:cNvSpPr txBox="1"/>
          <p:nvPr/>
        </p:nvSpPr>
        <p:spPr>
          <a:xfrm>
            <a:off x="707923" y="1519084"/>
            <a:ext cx="7744985" cy="49244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G</a:t>
            </a:r>
            <a:r>
              <a:rPr lang="it-IT" sz="2000" i="0" dirty="0">
                <a:effectLst/>
              </a:rPr>
              <a:t>as di colore rosso bruno, di odore pungente e altamente tossico, irritante per l'apparato respiratorio e per gli occhi.</a:t>
            </a:r>
          </a:p>
          <a:p>
            <a:endParaRPr lang="it-IT" sz="2000" i="0" dirty="0">
              <a:effectLst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i="0" dirty="0">
                <a:effectLst/>
              </a:rPr>
              <a:t>Si forma spontaneamente per esposizione del monossido di azoto (NO) all’aria, </a:t>
            </a:r>
            <a:r>
              <a:rPr lang="it-IT" sz="2000" dirty="0"/>
              <a:t>c</a:t>
            </a:r>
            <a:r>
              <a:rPr lang="it-IT" sz="2000" i="0" dirty="0">
                <a:effectLst/>
              </a:rPr>
              <a:t>ontribuisce alla formazione dello smog fotochimico e al fenomeno delle «piogge acide»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it-IT" sz="2000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it-IT" sz="2000" dirty="0"/>
              <a:t>L</a:t>
            </a:r>
            <a:r>
              <a:rPr lang="it-IT" sz="2000" i="0" dirty="0">
                <a:effectLst/>
              </a:rPr>
              <a:t>e emissioni dei motoveicoli rappresentano la fonte principale del biossido di azoto ambientale, perciò i livelli di concentrazione di biossido di azoto sono considerati un indicatore dell’</a:t>
            </a:r>
            <a:r>
              <a:rPr lang="it-IT" sz="2000" i="0" strike="noStrike" dirty="0">
                <a:effectLst/>
              </a:rPr>
              <a:t> inquinamento</a:t>
            </a:r>
            <a:r>
              <a:rPr lang="it-IT" sz="2000" i="0" dirty="0">
                <a:effectLst/>
              </a:rPr>
              <a:t> generato dal traffico.</a:t>
            </a:r>
            <a:r>
              <a:rPr lang="it-IT" sz="2000" dirty="0"/>
              <a:t> </a:t>
            </a:r>
            <a:r>
              <a:rPr lang="it-IT" sz="2000" i="0" dirty="0">
                <a:effectLst/>
              </a:rPr>
              <a:t>Altre fonti di ossidi di azoto sono le centrali termoelettriche e in genere tutti gli impianti di combustione di tipo industriale.</a:t>
            </a:r>
            <a:endParaRPr lang="it-IT" sz="2000" dirty="0"/>
          </a:p>
          <a:p>
            <a:pPr algn="l" fontAlgn="base"/>
            <a:endParaRPr lang="it-IT" b="0" i="0" dirty="0">
              <a:solidFill>
                <a:srgbClr val="56636B"/>
              </a:solidFill>
              <a:effectLst/>
              <a:latin typeface="Montserrat" panose="00000500000000000000" pitchFamily="2" charset="0"/>
            </a:endParaRPr>
          </a:p>
          <a:p>
            <a:pPr algn="l" fontAlgn="base"/>
            <a:r>
              <a:rPr lang="it-IT" b="0" i="0" dirty="0">
                <a:solidFill>
                  <a:srgbClr val="56636B"/>
                </a:solidFill>
                <a:effectLst/>
                <a:latin typeface="Montserrat" panose="00000500000000000000" pitchFamily="2" charset="0"/>
              </a:rPr>
              <a:t> </a:t>
            </a:r>
            <a:br>
              <a:rPr lang="it-IT" dirty="0"/>
            </a:br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246252419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262980-E907-4930-9E6E-3DC2025CE7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857C3788-5BB9-B153-ACF5-1B78B8E4AA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9224" y="645106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>
                <a:solidFill>
                  <a:srgbClr val="5C433D"/>
                </a:solidFill>
              </a:rPr>
              <a:t>I siti di monitoraggio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FD53EBD-B361-45AD-8ABF-9270B20B4AF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rgbClr val="5C433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3" name="CasellaDiTesto 2">
            <a:extLst>
              <a:ext uri="{FF2B5EF4-FFF2-40B4-BE49-F238E27FC236}">
                <a16:creationId xmlns:a16="http://schemas.microsoft.com/office/drawing/2014/main" id="{20BA3DDB-50B5-CCB0-A919-0819DBAC43A5}"/>
              </a:ext>
            </a:extLst>
          </p:cNvPr>
          <p:cNvSpPr txBox="1"/>
          <p:nvPr/>
        </p:nvSpPr>
        <p:spPr>
          <a:xfrm>
            <a:off x="649225" y="2133600"/>
            <a:ext cx="3650278" cy="375925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spcBef>
                <a:spcPts val="1000"/>
              </a:spcBef>
              <a:buClr>
                <a:srgbClr val="FD3E0D"/>
              </a:buClr>
              <a:buFont typeface="Wingdings 3" charset="2"/>
              <a:buChar char=""/>
            </a:pPr>
            <a:r>
              <a:rPr lang="en-US" b="0" i="0">
                <a:solidFill>
                  <a:schemeClr val="tx1">
                    <a:lumMod val="75000"/>
                    <a:lumOff val="25000"/>
                  </a:schemeClr>
                </a:solidFill>
                <a:effectLst/>
              </a:rPr>
              <a:t>I dati si riferiscono alla concentrazione di NO2 misurata in microgrammi/m3 (NO2_OBS) il 30 Gennaio 2015 nei siti della rete di monitoraggio di qualità dell’aria in Piemonte.</a:t>
            </a:r>
            <a:endParaRPr lang="en-US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13" name="Freeform 11">
            <a:extLst>
              <a:ext uri="{FF2B5EF4-FFF2-40B4-BE49-F238E27FC236}">
                <a16:creationId xmlns:a16="http://schemas.microsoft.com/office/drawing/2014/main" id="{DA1A4CE7-6399-4B37-ACE2-CFC4B4077B5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Segnaposto contenuto 3">
            <a:extLst>
              <a:ext uri="{FF2B5EF4-FFF2-40B4-BE49-F238E27FC236}">
                <a16:creationId xmlns:a16="http://schemas.microsoft.com/office/drawing/2014/main" id="{6DEB4F7D-2963-1C8C-A813-8B400AF769A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20676" r="11094"/>
          <a:stretch/>
        </p:blipFill>
        <p:spPr>
          <a:xfrm>
            <a:off x="4619543" y="10"/>
            <a:ext cx="7572457" cy="685324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0311281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50A6DDA-34D4-3501-55ED-EE530DFC2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6400" y="364869"/>
            <a:ext cx="10515600" cy="1325563"/>
          </a:xfrm>
        </p:spPr>
        <p:txBody>
          <a:bodyPr>
            <a:normAutofit/>
          </a:bodyPr>
          <a:lstStyle/>
          <a:p>
            <a:r>
              <a:rPr lang="it-IT" dirty="0"/>
              <a:t>Analisi del NO2 </a:t>
            </a:r>
            <a:br>
              <a:rPr lang="it-IT" sz="3200" dirty="0"/>
            </a:br>
            <a:r>
              <a:rPr lang="it-IT" sz="3200" dirty="0"/>
              <a:t>I valori della concentrazione nei siti</a:t>
            </a:r>
          </a:p>
        </p:txBody>
      </p:sp>
      <p:pic>
        <p:nvPicPr>
          <p:cNvPr id="5" name="Picture">
            <a:extLst>
              <a:ext uri="{FF2B5EF4-FFF2-40B4-BE49-F238E27FC236}">
                <a16:creationId xmlns:a16="http://schemas.microsoft.com/office/drawing/2014/main" id="{AA1A51D9-BF60-F69F-5F69-7E0737F5E3E8}"/>
              </a:ext>
            </a:extLst>
          </p:cNvPr>
          <p:cNvPicPr>
            <a:picLocks noGrp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 bwMode="auto">
          <a:xfrm>
            <a:off x="398207" y="1828800"/>
            <a:ext cx="5449848" cy="4001549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17416288-AECE-265F-C754-41EDF3EEDB61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5682748" y="1913102"/>
            <a:ext cx="6111045" cy="3771387"/>
          </a:xfrm>
          <a:prstGeom prst="rect">
            <a:avLst/>
          </a:prstGeom>
        </p:spPr>
      </p:pic>
      <p:sp>
        <p:nvSpPr>
          <p:cNvPr id="3" name="CasellaDiTesto 2">
            <a:extLst>
              <a:ext uri="{FF2B5EF4-FFF2-40B4-BE49-F238E27FC236}">
                <a16:creationId xmlns:a16="http://schemas.microsoft.com/office/drawing/2014/main" id="{1F97AF80-F011-5C86-0E41-BE5CF20F2A8D}"/>
              </a:ext>
            </a:extLst>
          </p:cNvPr>
          <p:cNvSpPr txBox="1"/>
          <p:nvPr/>
        </p:nvSpPr>
        <p:spPr>
          <a:xfrm>
            <a:off x="5118008" y="3614130"/>
            <a:ext cx="16180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600" dirty="0"/>
              <a:t>log(NO2_OBS</a:t>
            </a:r>
            <a:r>
              <a:rPr lang="it-IT" dirty="0"/>
              <a:t>)</a:t>
            </a:r>
          </a:p>
        </p:txBody>
      </p:sp>
      <p:sp>
        <p:nvSpPr>
          <p:cNvPr id="6" name="CasellaDiTesto 5">
            <a:extLst>
              <a:ext uri="{FF2B5EF4-FFF2-40B4-BE49-F238E27FC236}">
                <a16:creationId xmlns:a16="http://schemas.microsoft.com/office/drawing/2014/main" id="{812A2244-02A8-98DB-2412-6857AE310C62}"/>
              </a:ext>
            </a:extLst>
          </p:cNvPr>
          <p:cNvSpPr txBox="1"/>
          <p:nvPr/>
        </p:nvSpPr>
        <p:spPr>
          <a:xfrm>
            <a:off x="10482952" y="3660297"/>
            <a:ext cx="1631473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1600" dirty="0"/>
              <a:t>log(NO2_OBS)</a:t>
            </a:r>
          </a:p>
        </p:txBody>
      </p:sp>
    </p:spTree>
    <p:extLst>
      <p:ext uri="{BB962C8B-B14F-4D97-AF65-F5344CB8AC3E}">
        <p14:creationId xmlns:p14="http://schemas.microsoft.com/office/powerpoint/2010/main" val="63336159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74612A0-C0CE-D47E-00C1-0D456A1081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69720" y="985471"/>
            <a:ext cx="10515600" cy="949564"/>
          </a:xfrm>
        </p:spPr>
        <p:txBody>
          <a:bodyPr>
            <a:normAutofit/>
          </a:bodyPr>
          <a:lstStyle/>
          <a:p>
            <a:r>
              <a:rPr lang="it-IT" sz="3200" dirty="0"/>
              <a:t>La distribuzione della variabile NO2 osservata</a:t>
            </a:r>
          </a:p>
        </p:txBody>
      </p:sp>
      <p:pic>
        <p:nvPicPr>
          <p:cNvPr id="4" name="Immagine 3">
            <a:extLst>
              <a:ext uri="{FF2B5EF4-FFF2-40B4-BE49-F238E27FC236}">
                <a16:creationId xmlns:a16="http://schemas.microsoft.com/office/drawing/2014/main" id="{F6CF5F38-14A6-9A55-6E7D-0C60D272317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22220" y="1816339"/>
            <a:ext cx="7147560" cy="4411065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033027A7-B8AB-8438-10A9-4CBA16A6C9BD}"/>
              </a:ext>
            </a:extLst>
          </p:cNvPr>
          <p:cNvSpPr txBox="1"/>
          <p:nvPr/>
        </p:nvSpPr>
        <p:spPr>
          <a:xfrm>
            <a:off x="1569720" y="457835"/>
            <a:ext cx="6098458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3600" dirty="0"/>
              <a:t>Analisi del NO2 </a:t>
            </a:r>
          </a:p>
        </p:txBody>
      </p:sp>
    </p:spTree>
    <p:extLst>
      <p:ext uri="{BB962C8B-B14F-4D97-AF65-F5344CB8AC3E}">
        <p14:creationId xmlns:p14="http://schemas.microsoft.com/office/powerpoint/2010/main" val="308330380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167AEA0-C36C-8016-D60D-38CA7347D4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55274" y="31020"/>
            <a:ext cx="9081452" cy="1203960"/>
          </a:xfrm>
        </p:spPr>
        <p:txBody>
          <a:bodyPr/>
          <a:lstStyle/>
          <a:p>
            <a:r>
              <a:rPr lang="it-IT" dirty="0"/>
              <a:t>Analisi della dipendenza spaziale</a:t>
            </a:r>
            <a:br>
              <a:rPr lang="it-IT" dirty="0"/>
            </a:br>
            <a:r>
              <a:rPr lang="it-IT" sz="3200" dirty="0"/>
              <a:t>L’</a:t>
            </a:r>
            <a:r>
              <a:rPr lang="it-IT" sz="3200" dirty="0" err="1"/>
              <a:t>Hscatterplot</a:t>
            </a:r>
            <a:endParaRPr lang="it-IT" dirty="0"/>
          </a:p>
        </p:txBody>
      </p:sp>
      <p:pic>
        <p:nvPicPr>
          <p:cNvPr id="8" name="Segnaposto contenuto 7">
            <a:extLst>
              <a:ext uri="{FF2B5EF4-FFF2-40B4-BE49-F238E27FC236}">
                <a16:creationId xmlns:a16="http://schemas.microsoft.com/office/drawing/2014/main" id="{F366BC15-C455-16D9-757A-F7DFFEFA820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87732" y="1234980"/>
            <a:ext cx="10416536" cy="5394420"/>
          </a:xfrm>
        </p:spPr>
      </p:pic>
    </p:spTree>
    <p:extLst>
      <p:ext uri="{BB962C8B-B14F-4D97-AF65-F5344CB8AC3E}">
        <p14:creationId xmlns:p14="http://schemas.microsoft.com/office/powerpoint/2010/main" val="29820075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olo 1">
            <a:extLst>
              <a:ext uri="{FF2B5EF4-FFF2-40B4-BE49-F238E27FC236}">
                <a16:creationId xmlns:a16="http://schemas.microsoft.com/office/drawing/2014/main" id="{136DCFC5-AD17-AC79-4DBE-96862C6E43A3}"/>
              </a:ext>
            </a:extLst>
          </p:cNvPr>
          <p:cNvSpPr txBox="1">
            <a:spLocks/>
          </p:cNvSpPr>
          <p:nvPr/>
        </p:nvSpPr>
        <p:spPr>
          <a:xfrm>
            <a:off x="1640156" y="27359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algn="l" defTabSz="457200" rtl="0" eaLnBrk="1" latinLnBrk="0" hangingPunct="1">
              <a:spcBef>
                <a:spcPct val="0"/>
              </a:spcBef>
              <a:buNone/>
              <a:defRPr sz="3600" kern="1200">
                <a:solidFill>
                  <a:schemeClr val="tx1">
                    <a:lumMod val="85000"/>
                    <a:lumOff val="15000"/>
                  </a:schemeClr>
                </a:solidFill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ctr"/>
            <a:r>
              <a:rPr lang="it-IT" sz="4000" dirty="0" err="1"/>
              <a:t>Variogrammi</a:t>
            </a:r>
            <a:r>
              <a:rPr lang="it-IT" sz="4000" dirty="0"/>
              <a:t> e </a:t>
            </a:r>
            <a:r>
              <a:rPr lang="it-IT" sz="4000" dirty="0" err="1"/>
              <a:t>variografia</a:t>
            </a:r>
            <a:endParaRPr lang="it-IT" sz="4000" dirty="0"/>
          </a:p>
          <a:p>
            <a:pPr algn="ctr"/>
            <a:endParaRPr lang="it-IT" sz="1800" dirty="0"/>
          </a:p>
          <a:p>
            <a:pPr algn="ctr"/>
            <a:r>
              <a:rPr lang="it-IT" sz="1800" dirty="0"/>
              <a:t>Nuvola del </a:t>
            </a:r>
            <a:r>
              <a:rPr lang="it-IT" sz="1800" dirty="0" err="1"/>
              <a:t>variogramma</a:t>
            </a:r>
            <a:endParaRPr lang="it-IT" sz="1800" dirty="0"/>
          </a:p>
        </p:txBody>
      </p:sp>
      <p:pic>
        <p:nvPicPr>
          <p:cNvPr id="7" name="Segnaposto contenuto 6">
            <a:extLst>
              <a:ext uri="{FF2B5EF4-FFF2-40B4-BE49-F238E27FC236}">
                <a16:creationId xmlns:a16="http://schemas.microsoft.com/office/drawing/2014/main" id="{496378F9-D0F2-13A4-445E-4A592D4E8E4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13913" y="1554480"/>
            <a:ext cx="8164172" cy="50336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522713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8920D4C-3AAF-30B4-4CC9-786AE9F201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519882" y="422237"/>
            <a:ext cx="8911687" cy="1280890"/>
          </a:xfrm>
        </p:spPr>
        <p:txBody>
          <a:bodyPr>
            <a:normAutofit/>
          </a:bodyPr>
          <a:lstStyle/>
          <a:p>
            <a:pPr algn="ctr"/>
            <a:r>
              <a:rPr lang="it-IT" sz="4000" dirty="0" err="1"/>
              <a:t>Variogrammi</a:t>
            </a:r>
            <a:r>
              <a:rPr lang="it-IT" sz="4000" dirty="0"/>
              <a:t> e </a:t>
            </a:r>
            <a:r>
              <a:rPr lang="it-IT" sz="4000" dirty="0" err="1"/>
              <a:t>variografia</a:t>
            </a:r>
            <a:endParaRPr lang="it-IT" sz="4000" dirty="0"/>
          </a:p>
        </p:txBody>
      </p:sp>
      <p:pic>
        <p:nvPicPr>
          <p:cNvPr id="6" name="Segnaposto contenuto 5">
            <a:extLst>
              <a:ext uri="{FF2B5EF4-FFF2-40B4-BE49-F238E27FC236}">
                <a16:creationId xmlns:a16="http://schemas.microsoft.com/office/drawing/2014/main" id="{883E1B34-6087-2221-50E0-699259B1E0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94620" y="1887790"/>
            <a:ext cx="5776583" cy="3564976"/>
          </a:xfrm>
          <a:prstGeom prst="rect">
            <a:avLst/>
          </a:prstGeom>
        </p:spPr>
      </p:pic>
      <p:sp>
        <p:nvSpPr>
          <p:cNvPr id="10" name="CasellaDiTesto 9">
            <a:extLst>
              <a:ext uri="{FF2B5EF4-FFF2-40B4-BE49-F238E27FC236}">
                <a16:creationId xmlns:a16="http://schemas.microsoft.com/office/drawing/2014/main" id="{54BAA16E-B7F0-850A-8F29-78A873427B98}"/>
              </a:ext>
            </a:extLst>
          </p:cNvPr>
          <p:cNvSpPr txBox="1"/>
          <p:nvPr/>
        </p:nvSpPr>
        <p:spPr>
          <a:xfrm>
            <a:off x="512511" y="1490552"/>
            <a:ext cx="499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Semivariogramma</a:t>
            </a:r>
            <a:r>
              <a:rPr lang="it-IT" dirty="0"/>
              <a:t> robusto campionario</a:t>
            </a:r>
          </a:p>
        </p:txBody>
      </p:sp>
      <p:sp>
        <p:nvSpPr>
          <p:cNvPr id="11" name="CasellaDiTesto 10">
            <a:extLst>
              <a:ext uri="{FF2B5EF4-FFF2-40B4-BE49-F238E27FC236}">
                <a16:creationId xmlns:a16="http://schemas.microsoft.com/office/drawing/2014/main" id="{88A26AE8-102E-9B38-EF61-0FC1F90307BD}"/>
              </a:ext>
            </a:extLst>
          </p:cNvPr>
          <p:cNvSpPr txBox="1"/>
          <p:nvPr/>
        </p:nvSpPr>
        <p:spPr>
          <a:xfrm>
            <a:off x="6439237" y="1518461"/>
            <a:ext cx="499970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it-IT" dirty="0" err="1"/>
              <a:t>Semivariogramma</a:t>
            </a:r>
            <a:r>
              <a:rPr lang="it-IT" dirty="0"/>
              <a:t> campionario</a:t>
            </a:r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62EABDDC-016C-16B8-6BD5-6EDCC823444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3128" y="1846161"/>
            <a:ext cx="5911492" cy="36482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405657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Segnaposto contenuto 9">
            <a:extLst>
              <a:ext uri="{FF2B5EF4-FFF2-40B4-BE49-F238E27FC236}">
                <a16:creationId xmlns:a16="http://schemas.microsoft.com/office/drawing/2014/main" id="{E2B4F4FA-4E9E-D168-4857-B35E8C8B8C8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5002" y="1896805"/>
            <a:ext cx="6193305" cy="3822154"/>
          </a:xfrm>
          <a:prstGeom prst="rect">
            <a:avLst/>
          </a:prstGeom>
        </p:spPr>
      </p:pic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929E0F16-5143-165C-E8FE-30A67522C6D1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796378677"/>
              </p:ext>
            </p:extLst>
          </p:nvPr>
        </p:nvGraphicFramePr>
        <p:xfrm>
          <a:off x="6628693" y="2316480"/>
          <a:ext cx="5181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74619689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37713579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752799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dirty="0"/>
                        <a:t>Model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b="1"/>
                        <a:t>psill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range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90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/>
                        <a:t>Nug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0.2291668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0.00000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88196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800" dirty="0" err="1">
                          <a:effectLst/>
                        </a:rPr>
                        <a:t>Sph</a:t>
                      </a:r>
                      <a:endParaRPr lang="it-IT" sz="1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2.1071410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17.10107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262563429"/>
                  </a:ext>
                </a:extLst>
              </a:tr>
            </a:tbl>
          </a:graphicData>
        </a:graphic>
      </p:graphicFrame>
      <p:sp>
        <p:nvSpPr>
          <p:cNvPr id="3" name="CasellaDiTesto 2">
            <a:extLst>
              <a:ext uri="{FF2B5EF4-FFF2-40B4-BE49-F238E27FC236}">
                <a16:creationId xmlns:a16="http://schemas.microsoft.com/office/drawing/2014/main" id="{2F1B1749-F9AA-8277-5340-1869CA027C2B}"/>
              </a:ext>
            </a:extLst>
          </p:cNvPr>
          <p:cNvSpPr txBox="1"/>
          <p:nvPr/>
        </p:nvSpPr>
        <p:spPr>
          <a:xfrm>
            <a:off x="1232917" y="1192356"/>
            <a:ext cx="4397477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Sferico</a:t>
            </a:r>
          </a:p>
        </p:txBody>
      </p:sp>
      <p:graphicFrame>
        <p:nvGraphicFramePr>
          <p:cNvPr id="4" name="Tabella 3">
            <a:extLst>
              <a:ext uri="{FF2B5EF4-FFF2-40B4-BE49-F238E27FC236}">
                <a16:creationId xmlns:a16="http://schemas.microsoft.com/office/drawing/2014/main" id="{D78D33CE-6C1A-02D5-E7BE-51C37E887E4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63289356"/>
              </p:ext>
            </p:extLst>
          </p:nvPr>
        </p:nvGraphicFramePr>
        <p:xfrm>
          <a:off x="6628692" y="3840480"/>
          <a:ext cx="1438675" cy="76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675">
                  <a:extLst>
                    <a:ext uri="{9D8B030D-6E8A-4147-A177-3AD203B41FA5}">
                      <a16:colId xmlns:a16="http://schemas.microsoft.com/office/drawing/2014/main" val="3708865771"/>
                    </a:ext>
                  </a:extLst>
                </a:gridCol>
              </a:tblGrid>
              <a:tr h="384721">
                <a:tc>
                  <a:txBody>
                    <a:bodyPr/>
                    <a:lstStyle/>
                    <a:p>
                      <a:r>
                        <a:rPr lang="it-IT" dirty="0" err="1"/>
                        <a:t>SSErr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41671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r>
                        <a:rPr lang="it-IT" dirty="0"/>
                        <a:t>0.5029649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2936"/>
                  </a:ext>
                </a:extLst>
              </a:tr>
            </a:tbl>
          </a:graphicData>
        </a:graphic>
      </p:graphicFrame>
      <p:sp>
        <p:nvSpPr>
          <p:cNvPr id="7" name="CasellaDiTesto 6">
            <a:extLst>
              <a:ext uri="{FF2B5EF4-FFF2-40B4-BE49-F238E27FC236}">
                <a16:creationId xmlns:a16="http://schemas.microsoft.com/office/drawing/2014/main" id="{1B3EF36B-B24F-6F4D-7A99-BE80AEE33E88}"/>
              </a:ext>
            </a:extLst>
          </p:cNvPr>
          <p:cNvSpPr txBox="1"/>
          <p:nvPr/>
        </p:nvSpPr>
        <p:spPr>
          <a:xfrm>
            <a:off x="2223328" y="303241"/>
            <a:ext cx="87610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400" dirty="0">
                <a:latin typeface="+mj-lt"/>
              </a:rPr>
              <a:t>Applicazione di modelli teorici</a:t>
            </a:r>
          </a:p>
        </p:txBody>
      </p:sp>
    </p:spTree>
    <p:extLst>
      <p:ext uri="{BB962C8B-B14F-4D97-AF65-F5344CB8AC3E}">
        <p14:creationId xmlns:p14="http://schemas.microsoft.com/office/powerpoint/2010/main" val="300572529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E3788F7-1675-37FF-85FB-0DABFD88AA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Segnaposto contenuto 13">
            <a:extLst>
              <a:ext uri="{FF2B5EF4-FFF2-40B4-BE49-F238E27FC236}">
                <a16:creationId xmlns:a16="http://schemas.microsoft.com/office/drawing/2014/main" id="{35E55E0A-C99C-1D6C-C532-67319CFBFC5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333783" y="1990805"/>
            <a:ext cx="6087176" cy="3756657"/>
          </a:xfrm>
          <a:prstGeom prst="rect">
            <a:avLst/>
          </a:prstGeom>
        </p:spPr>
      </p:pic>
      <p:graphicFrame>
        <p:nvGraphicFramePr>
          <p:cNvPr id="11" name="Segnaposto contenuto 10">
            <a:extLst>
              <a:ext uri="{FF2B5EF4-FFF2-40B4-BE49-F238E27FC236}">
                <a16:creationId xmlns:a16="http://schemas.microsoft.com/office/drawing/2014/main" id="{97C1A96B-9760-8752-A370-3000CFE10DFE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3108009039"/>
              </p:ext>
            </p:extLst>
          </p:nvPr>
        </p:nvGraphicFramePr>
        <p:xfrm>
          <a:off x="6628693" y="2316480"/>
          <a:ext cx="5181600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7200">
                  <a:extLst>
                    <a:ext uri="{9D8B030D-6E8A-4147-A177-3AD203B41FA5}">
                      <a16:colId xmlns:a16="http://schemas.microsoft.com/office/drawing/2014/main" val="746196898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3377135790"/>
                    </a:ext>
                  </a:extLst>
                </a:gridCol>
                <a:gridCol w="1727200">
                  <a:extLst>
                    <a:ext uri="{9D8B030D-6E8A-4147-A177-3AD203B41FA5}">
                      <a16:colId xmlns:a16="http://schemas.microsoft.com/office/drawing/2014/main" val="175279970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it-IT" b="1" dirty="0"/>
                        <a:t>Model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b="1"/>
                        <a:t>psill</a:t>
                      </a:r>
                      <a:endParaRPr lang="it-IT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r>
                        <a:rPr lang="it-IT" b="1" dirty="0"/>
                        <a:t>range</a:t>
                      </a:r>
                      <a:endParaRPr lang="it-IT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9249051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Nug</a:t>
                      </a:r>
                      <a:endParaRPr lang="it-IT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0.000000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0.00000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88196725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it-IT" sz="1800" dirty="0" err="1">
                          <a:effectLst/>
                        </a:rPr>
                        <a:t>Exp</a:t>
                      </a:r>
                      <a:endParaRPr lang="it-IT" sz="18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>
                          <a:effectLst/>
                        </a:rPr>
                        <a:t>2.491106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8.87995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2262563429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3B70EA04-4037-0560-108A-96EFF231B411}"/>
              </a:ext>
            </a:extLst>
          </p:cNvPr>
          <p:cNvSpPr txBox="1"/>
          <p:nvPr/>
        </p:nvSpPr>
        <p:spPr>
          <a:xfrm>
            <a:off x="556760" y="1239356"/>
            <a:ext cx="333313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3200" dirty="0"/>
              <a:t>Esponenziale</a:t>
            </a: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FC228EA8-8077-03BE-C05A-2FCF0285F8E6}"/>
              </a:ext>
            </a:extLst>
          </p:cNvPr>
          <p:cNvSpPr txBox="1"/>
          <p:nvPr/>
        </p:nvSpPr>
        <p:spPr>
          <a:xfrm>
            <a:off x="2223328" y="303241"/>
            <a:ext cx="87610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400" dirty="0">
                <a:latin typeface="+mj-lt"/>
              </a:rPr>
              <a:t>Applicazione di modelli teorici</a:t>
            </a:r>
          </a:p>
        </p:txBody>
      </p:sp>
      <p:graphicFrame>
        <p:nvGraphicFramePr>
          <p:cNvPr id="2" name="Tabella 1">
            <a:extLst>
              <a:ext uri="{FF2B5EF4-FFF2-40B4-BE49-F238E27FC236}">
                <a16:creationId xmlns:a16="http://schemas.microsoft.com/office/drawing/2014/main" id="{D1A0C9FA-4090-1BE1-A058-F6DEE3E491D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8715411"/>
              </p:ext>
            </p:extLst>
          </p:nvPr>
        </p:nvGraphicFramePr>
        <p:xfrm>
          <a:off x="6628693" y="3824727"/>
          <a:ext cx="1438675" cy="76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38675">
                  <a:extLst>
                    <a:ext uri="{9D8B030D-6E8A-4147-A177-3AD203B41FA5}">
                      <a16:colId xmlns:a16="http://schemas.microsoft.com/office/drawing/2014/main" val="3708865771"/>
                    </a:ext>
                  </a:extLst>
                </a:gridCol>
              </a:tblGrid>
              <a:tr h="384721">
                <a:tc>
                  <a:txBody>
                    <a:bodyPr/>
                    <a:lstStyle/>
                    <a:p>
                      <a:r>
                        <a:rPr lang="it-IT" dirty="0" err="1"/>
                        <a:t>SSErr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41671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r>
                        <a:rPr lang="it-IT" dirty="0"/>
                        <a:t>0.5447479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1746786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A562C4E2-2555-8196-A46E-63843B8539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87748" y="1176722"/>
            <a:ext cx="3529789" cy="584559"/>
          </a:xfrm>
        </p:spPr>
        <p:txBody>
          <a:bodyPr>
            <a:normAutofit/>
          </a:bodyPr>
          <a:lstStyle/>
          <a:p>
            <a:pPr algn="ctr"/>
            <a:r>
              <a:rPr lang="it-IT" sz="3200" dirty="0" err="1"/>
              <a:t>Matern</a:t>
            </a:r>
            <a:endParaRPr lang="it-IT" sz="3200" dirty="0"/>
          </a:p>
        </p:txBody>
      </p:sp>
      <p:pic>
        <p:nvPicPr>
          <p:cNvPr id="11" name="Segnaposto contenuto 10">
            <a:extLst>
              <a:ext uri="{FF2B5EF4-FFF2-40B4-BE49-F238E27FC236}">
                <a16:creationId xmlns:a16="http://schemas.microsoft.com/office/drawing/2014/main" id="{050434B6-F22B-F221-9EC1-890D536F38F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87748" y="1961535"/>
            <a:ext cx="6171904" cy="3808946"/>
          </a:xfrm>
          <a:prstGeom prst="rect">
            <a:avLst/>
          </a:prstGeom>
        </p:spPr>
      </p:pic>
      <p:graphicFrame>
        <p:nvGraphicFramePr>
          <p:cNvPr id="7" name="Segnaposto contenuto 6">
            <a:extLst>
              <a:ext uri="{FF2B5EF4-FFF2-40B4-BE49-F238E27FC236}">
                <a16:creationId xmlns:a16="http://schemas.microsoft.com/office/drawing/2014/main" id="{EE2FAFCA-DC58-2DEF-CF75-5094B10CF628}"/>
              </a:ext>
            </a:extLst>
          </p:cNvPr>
          <p:cNvGraphicFramePr>
            <a:graphicFrameLocks noGrp="1"/>
          </p:cNvGraphicFramePr>
          <p:nvPr>
            <p:ph sz="half" idx="2"/>
            <p:extLst>
              <p:ext uri="{D42A27DB-BD31-4B8C-83A1-F6EECF244321}">
                <p14:modId xmlns:p14="http://schemas.microsoft.com/office/powerpoint/2010/main" val="2606258270"/>
              </p:ext>
            </p:extLst>
          </p:nvPr>
        </p:nvGraphicFramePr>
        <p:xfrm>
          <a:off x="6459652" y="2321560"/>
          <a:ext cx="5526237" cy="110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63788">
                  <a:extLst>
                    <a:ext uri="{9D8B030D-6E8A-4147-A177-3AD203B41FA5}">
                      <a16:colId xmlns:a16="http://schemas.microsoft.com/office/drawing/2014/main" val="737737340"/>
                    </a:ext>
                  </a:extLst>
                </a:gridCol>
                <a:gridCol w="1387483">
                  <a:extLst>
                    <a:ext uri="{9D8B030D-6E8A-4147-A177-3AD203B41FA5}">
                      <a16:colId xmlns:a16="http://schemas.microsoft.com/office/drawing/2014/main" val="2614961369"/>
                    </a:ext>
                  </a:extLst>
                </a:gridCol>
                <a:gridCol w="1387483">
                  <a:extLst>
                    <a:ext uri="{9D8B030D-6E8A-4147-A177-3AD203B41FA5}">
                      <a16:colId xmlns:a16="http://schemas.microsoft.com/office/drawing/2014/main" val="3149110270"/>
                    </a:ext>
                  </a:extLst>
                </a:gridCol>
                <a:gridCol w="1387483">
                  <a:extLst>
                    <a:ext uri="{9D8B030D-6E8A-4147-A177-3AD203B41FA5}">
                      <a16:colId xmlns:a16="http://schemas.microsoft.com/office/drawing/2014/main" val="3730439084"/>
                    </a:ext>
                  </a:extLst>
                </a:gridCol>
              </a:tblGrid>
              <a:tr h="312830">
                <a:tc>
                  <a:txBody>
                    <a:bodyPr/>
                    <a:lstStyle/>
                    <a:p>
                      <a:r>
                        <a:rPr lang="it-IT" dirty="0"/>
                        <a:t>Model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 err="1"/>
                        <a:t>Psill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Range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it-IT" dirty="0"/>
                        <a:t>Kappa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76264591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Nug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0.3763962</a:t>
                      </a:r>
                      <a:endParaRPr lang="it-IT" sz="2000" dirty="0">
                        <a:effectLst/>
                      </a:endParaRP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0.0000000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0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348970041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it-IT" dirty="0" err="1"/>
                        <a:t>Mat</a:t>
                      </a:r>
                      <a:endParaRPr lang="it-IT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>
                          <a:effectLst/>
                        </a:rPr>
                        <a:t>2.0685041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3.421046</a:t>
                      </a:r>
                    </a:p>
                  </a:txBody>
                  <a:tcPr marL="57150" marR="57150" marT="19050" marB="19050"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it-IT" sz="2000" dirty="0">
                          <a:effectLst/>
                        </a:rPr>
                        <a:t>2.5</a:t>
                      </a:r>
                    </a:p>
                  </a:txBody>
                  <a:tcPr marL="57150" marR="57150" marT="19050" marB="19050" anchor="ctr"/>
                </a:tc>
                <a:extLst>
                  <a:ext uri="{0D108BD9-81ED-4DB2-BD59-A6C34878D82A}">
                    <a16:rowId xmlns:a16="http://schemas.microsoft.com/office/drawing/2014/main" val="998902186"/>
                  </a:ext>
                </a:extLst>
              </a:tr>
            </a:tbl>
          </a:graphicData>
        </a:graphic>
      </p:graphicFrame>
      <p:sp>
        <p:nvSpPr>
          <p:cNvPr id="8" name="CasellaDiTesto 7">
            <a:extLst>
              <a:ext uri="{FF2B5EF4-FFF2-40B4-BE49-F238E27FC236}">
                <a16:creationId xmlns:a16="http://schemas.microsoft.com/office/drawing/2014/main" id="{FEA93664-EF8E-F832-0877-C8AC7A212060}"/>
              </a:ext>
            </a:extLst>
          </p:cNvPr>
          <p:cNvSpPr txBox="1"/>
          <p:nvPr/>
        </p:nvSpPr>
        <p:spPr>
          <a:xfrm>
            <a:off x="2223328" y="303241"/>
            <a:ext cx="876106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it-IT" sz="4400" dirty="0">
                <a:latin typeface="+mj-lt"/>
              </a:rPr>
              <a:t>Applicazione di modelli teorici</a:t>
            </a:r>
          </a:p>
        </p:txBody>
      </p:sp>
      <p:graphicFrame>
        <p:nvGraphicFramePr>
          <p:cNvPr id="5" name="Tabella 4">
            <a:extLst>
              <a:ext uri="{FF2B5EF4-FFF2-40B4-BE49-F238E27FC236}">
                <a16:creationId xmlns:a16="http://schemas.microsoft.com/office/drawing/2014/main" id="{D7A36A84-401E-4F89-E0CB-E2E6F7021A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7833140"/>
              </p:ext>
            </p:extLst>
          </p:nvPr>
        </p:nvGraphicFramePr>
        <p:xfrm>
          <a:off x="6459652" y="3908436"/>
          <a:ext cx="1487637" cy="76944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87637">
                  <a:extLst>
                    <a:ext uri="{9D8B030D-6E8A-4147-A177-3AD203B41FA5}">
                      <a16:colId xmlns:a16="http://schemas.microsoft.com/office/drawing/2014/main" val="3708865771"/>
                    </a:ext>
                  </a:extLst>
                </a:gridCol>
              </a:tblGrid>
              <a:tr h="384721">
                <a:tc>
                  <a:txBody>
                    <a:bodyPr/>
                    <a:lstStyle/>
                    <a:p>
                      <a:r>
                        <a:rPr lang="it-IT" dirty="0" err="1"/>
                        <a:t>SSErr</a:t>
                      </a:r>
                      <a:endParaRPr lang="it-IT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42841671"/>
                  </a:ext>
                </a:extLst>
              </a:tr>
              <a:tr h="384721">
                <a:tc>
                  <a:txBody>
                    <a:bodyPr/>
                    <a:lstStyle/>
                    <a:p>
                      <a:r>
                        <a:rPr lang="it-IT" dirty="0"/>
                        <a:t>0.5150689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440552936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422101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947238-D949-360A-2523-47CD0A5C06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99895" y="383458"/>
            <a:ext cx="8911687" cy="737419"/>
          </a:xfrm>
        </p:spPr>
        <p:txBody>
          <a:bodyPr>
            <a:normAutofit/>
          </a:bodyPr>
          <a:lstStyle/>
          <a:p>
            <a:pPr algn="ctr"/>
            <a:r>
              <a:rPr lang="it-IT" sz="4000"/>
              <a:t>Analisi direzionale</a:t>
            </a:r>
            <a:endParaRPr lang="it-IT" sz="4000" dirty="0"/>
          </a:p>
        </p:txBody>
      </p:sp>
      <p:pic>
        <p:nvPicPr>
          <p:cNvPr id="12" name="Segnaposto contenuto 11">
            <a:extLst>
              <a:ext uri="{FF2B5EF4-FFF2-40B4-BE49-F238E27FC236}">
                <a16:creationId xmlns:a16="http://schemas.microsoft.com/office/drawing/2014/main" id="{DB6AA367-5C24-67E2-40CA-275E9B677692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>
          <a:blip r:embed="rId2"/>
          <a:stretch>
            <a:fillRect/>
          </a:stretch>
        </p:blipFill>
        <p:spPr>
          <a:xfrm>
            <a:off x="2015814" y="1120877"/>
            <a:ext cx="8279847" cy="51098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5130510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" name="Group 9">
            <a:extLst>
              <a:ext uri="{FF2B5EF4-FFF2-40B4-BE49-F238E27FC236}">
                <a16:creationId xmlns:a16="http://schemas.microsoft.com/office/drawing/2014/main" id="{183CFBA6-CE65-403A-9402-96B75FC8991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11" name="Freeform 11">
              <a:extLst>
                <a:ext uri="{FF2B5EF4-FFF2-40B4-BE49-F238E27FC236}">
                  <a16:creationId xmlns:a16="http://schemas.microsoft.com/office/drawing/2014/main" id="{59AF335C-09EE-4959-A2C9-B32F3C6C1D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2" name="Freeform 12">
              <a:extLst>
                <a:ext uri="{FF2B5EF4-FFF2-40B4-BE49-F238E27FC236}">
                  <a16:creationId xmlns:a16="http://schemas.microsoft.com/office/drawing/2014/main" id="{94CCE8C7-E8BB-47EB-BBC7-5E8948F89F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3" name="Freeform 13">
              <a:extLst>
                <a:ext uri="{FF2B5EF4-FFF2-40B4-BE49-F238E27FC236}">
                  <a16:creationId xmlns:a16="http://schemas.microsoft.com/office/drawing/2014/main" id="{2665878D-6479-49F4-BD1C-D1BE63CABAA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4" name="Freeform 14">
              <a:extLst>
                <a:ext uri="{FF2B5EF4-FFF2-40B4-BE49-F238E27FC236}">
                  <a16:creationId xmlns:a16="http://schemas.microsoft.com/office/drawing/2014/main" id="{C6400AEB-4991-4E07-8599-C36A9E3543C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5" name="Freeform 15">
              <a:extLst>
                <a:ext uri="{FF2B5EF4-FFF2-40B4-BE49-F238E27FC236}">
                  <a16:creationId xmlns:a16="http://schemas.microsoft.com/office/drawing/2014/main" id="{0C2AEB7A-70D9-4DE7-B97A-0325DBC9F2F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6" name="Freeform 16">
              <a:extLst>
                <a:ext uri="{FF2B5EF4-FFF2-40B4-BE49-F238E27FC236}">
                  <a16:creationId xmlns:a16="http://schemas.microsoft.com/office/drawing/2014/main" id="{FC03DDD2-9CC7-40B7-A632-50BF3E3F6AB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7" name="Freeform 17">
              <a:extLst>
                <a:ext uri="{FF2B5EF4-FFF2-40B4-BE49-F238E27FC236}">
                  <a16:creationId xmlns:a16="http://schemas.microsoft.com/office/drawing/2014/main" id="{7F0B3262-F0EC-44D3-AA37-9552D248C71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8" name="Freeform 18">
              <a:extLst>
                <a:ext uri="{FF2B5EF4-FFF2-40B4-BE49-F238E27FC236}">
                  <a16:creationId xmlns:a16="http://schemas.microsoft.com/office/drawing/2014/main" id="{1839BD80-9BF2-49B4-BB03-B5AAB359BF2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9" name="Freeform 19">
              <a:extLst>
                <a:ext uri="{FF2B5EF4-FFF2-40B4-BE49-F238E27FC236}">
                  <a16:creationId xmlns:a16="http://schemas.microsoft.com/office/drawing/2014/main" id="{BDC00C45-9216-4702-A31A-391B1D89C47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0" name="Freeform 20">
              <a:extLst>
                <a:ext uri="{FF2B5EF4-FFF2-40B4-BE49-F238E27FC236}">
                  <a16:creationId xmlns:a16="http://schemas.microsoft.com/office/drawing/2014/main" id="{5FB0F70F-34B9-4938-B487-312A0BF0E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1" name="Freeform 21">
              <a:extLst>
                <a:ext uri="{FF2B5EF4-FFF2-40B4-BE49-F238E27FC236}">
                  <a16:creationId xmlns:a16="http://schemas.microsoft.com/office/drawing/2014/main" id="{791D1EE1-5A08-47A7-8D44-0940DEF5B4A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2" name="Freeform 22">
              <a:extLst>
                <a:ext uri="{FF2B5EF4-FFF2-40B4-BE49-F238E27FC236}">
                  <a16:creationId xmlns:a16="http://schemas.microsoft.com/office/drawing/2014/main" id="{E04F3404-E41A-43F9-AC45-52EB0874B43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C1BC7BDB-967A-4559-AA14-041BCB872D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25" name="Freeform 27">
              <a:extLst>
                <a:ext uri="{FF2B5EF4-FFF2-40B4-BE49-F238E27FC236}">
                  <a16:creationId xmlns:a16="http://schemas.microsoft.com/office/drawing/2014/main" id="{A39F46EA-3E4A-46CA-BCB8-CA695ED3F4C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6" name="Freeform 28">
              <a:extLst>
                <a:ext uri="{FF2B5EF4-FFF2-40B4-BE49-F238E27FC236}">
                  <a16:creationId xmlns:a16="http://schemas.microsoft.com/office/drawing/2014/main" id="{491A4A32-7F8C-4CA7-9281-9761F03571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7" name="Freeform 29">
              <a:extLst>
                <a:ext uri="{FF2B5EF4-FFF2-40B4-BE49-F238E27FC236}">
                  <a16:creationId xmlns:a16="http://schemas.microsoft.com/office/drawing/2014/main" id="{46B02D76-3CD9-4DF5-A3AD-793E7204E0D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8" name="Freeform 30">
              <a:extLst>
                <a:ext uri="{FF2B5EF4-FFF2-40B4-BE49-F238E27FC236}">
                  <a16:creationId xmlns:a16="http://schemas.microsoft.com/office/drawing/2014/main" id="{E579A2FB-E98B-4144-9D52-3A72BD8D1B7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9" name="Freeform 31">
              <a:extLst>
                <a:ext uri="{FF2B5EF4-FFF2-40B4-BE49-F238E27FC236}">
                  <a16:creationId xmlns:a16="http://schemas.microsoft.com/office/drawing/2014/main" id="{65E500DD-EB71-44B5-A2FA-88E99643578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0" name="Freeform 32">
              <a:extLst>
                <a:ext uri="{FF2B5EF4-FFF2-40B4-BE49-F238E27FC236}">
                  <a16:creationId xmlns:a16="http://schemas.microsoft.com/office/drawing/2014/main" id="{04D6AAD6-45AE-454A-9206-8B90E8A264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1" name="Freeform 33">
              <a:extLst>
                <a:ext uri="{FF2B5EF4-FFF2-40B4-BE49-F238E27FC236}">
                  <a16:creationId xmlns:a16="http://schemas.microsoft.com/office/drawing/2014/main" id="{F7399B13-8510-45F6-98C4-0F14C0B3785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2" name="Freeform 34">
              <a:extLst>
                <a:ext uri="{FF2B5EF4-FFF2-40B4-BE49-F238E27FC236}">
                  <a16:creationId xmlns:a16="http://schemas.microsoft.com/office/drawing/2014/main" id="{CA595445-6A38-4465-9A5D-9705388D933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3" name="Freeform 35">
              <a:extLst>
                <a:ext uri="{FF2B5EF4-FFF2-40B4-BE49-F238E27FC236}">
                  <a16:creationId xmlns:a16="http://schemas.microsoft.com/office/drawing/2014/main" id="{21D40BAF-4AE0-46F4-BD65-057F0DC6685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4" name="Freeform 36">
              <a:extLst>
                <a:ext uri="{FF2B5EF4-FFF2-40B4-BE49-F238E27FC236}">
                  <a16:creationId xmlns:a16="http://schemas.microsoft.com/office/drawing/2014/main" id="{B17F2D73-16DF-4138-B72D-E5B204717AC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5" name="Freeform 37">
              <a:extLst>
                <a:ext uri="{FF2B5EF4-FFF2-40B4-BE49-F238E27FC236}">
                  <a16:creationId xmlns:a16="http://schemas.microsoft.com/office/drawing/2014/main" id="{DB8ABBC2-6C0C-4F6E-97EB-55B3B7B2F38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6" name="Freeform 38">
              <a:extLst>
                <a:ext uri="{FF2B5EF4-FFF2-40B4-BE49-F238E27FC236}">
                  <a16:creationId xmlns:a16="http://schemas.microsoft.com/office/drawing/2014/main" id="{7A49885E-6B05-41B6-B47F-9D24456FE7A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38" name="Rectangle 37">
            <a:extLst>
              <a:ext uri="{FF2B5EF4-FFF2-40B4-BE49-F238E27FC236}">
                <a16:creationId xmlns:a16="http://schemas.microsoft.com/office/drawing/2014/main" id="{BDADA868-08FE-425A-AEF9-B622F93730A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0" name="Freeform 11">
            <a:extLst>
              <a:ext uri="{FF2B5EF4-FFF2-40B4-BE49-F238E27FC236}">
                <a16:creationId xmlns:a16="http://schemas.microsoft.com/office/drawing/2014/main" id="{4AE17B7F-6C2F-42A9-946F-8FF49617D1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>
        <p:nvSpPr>
          <p:cNvPr id="42" name="Rectangle 41">
            <a:extLst>
              <a:ext uri="{FF2B5EF4-FFF2-40B4-BE49-F238E27FC236}">
                <a16:creationId xmlns:a16="http://schemas.microsoft.com/office/drawing/2014/main" id="{F966DD2F-FBF5-41CE-A3F4-565352D95DC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92000" cy="6858000"/>
          </a:xfrm>
          <a:prstGeom prst="rect">
            <a:avLst/>
          </a:prstGeom>
          <a:solidFill>
            <a:schemeClr val="bg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A7244610-2157-4591-38F7-9B58C08BB3F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45798" y="601462"/>
            <a:ext cx="9712998" cy="1280890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ctr"/>
            <a:r>
              <a:rPr lang="en-US"/>
              <a:t>Conclusioni</a:t>
            </a:r>
          </a:p>
        </p:txBody>
      </p:sp>
      <p:sp>
        <p:nvSpPr>
          <p:cNvPr id="44" name="Rectangle 43">
            <a:extLst>
              <a:ext uri="{FF2B5EF4-FFF2-40B4-BE49-F238E27FC236}">
                <a16:creationId xmlns:a16="http://schemas.microsoft.com/office/drawing/2014/main" id="{F46FCE2B-F2D2-466E-B0AA-8E341DB498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6" name="Freeform 11">
            <a:extLst>
              <a:ext uri="{FF2B5EF4-FFF2-40B4-BE49-F238E27FC236}">
                <a16:creationId xmlns:a16="http://schemas.microsoft.com/office/drawing/2014/main" id="{2BD31C98-199A-4722-A1A5-4393A43E74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graphicFrame>
        <p:nvGraphicFramePr>
          <p:cNvPr id="6" name="CasellaDiTesto 3">
            <a:extLst>
              <a:ext uri="{FF2B5EF4-FFF2-40B4-BE49-F238E27FC236}">
                <a16:creationId xmlns:a16="http://schemas.microsoft.com/office/drawing/2014/main" id="{30E98747-96BE-1E00-B60D-AF650C83B426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775761545"/>
              </p:ext>
            </p:extLst>
          </p:nvPr>
        </p:nvGraphicFramePr>
        <p:xfrm>
          <a:off x="1292801" y="1511298"/>
          <a:ext cx="9604256" cy="4477899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18547818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B1AC0124-39A1-3F2C-156D-EE0949C48C14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it-IT" dirty="0"/>
              <a:t>Grazie per l’attenzione!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22CD16B6-1E97-240D-4932-BA8CCF6AD65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it-IT" dirty="0"/>
          </a:p>
        </p:txBody>
      </p:sp>
    </p:spTree>
    <p:extLst>
      <p:ext uri="{BB962C8B-B14F-4D97-AF65-F5344CB8AC3E}">
        <p14:creationId xmlns:p14="http://schemas.microsoft.com/office/powerpoint/2010/main" val="4045692465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bg>
      <p:bgPr>
        <a:gradFill rotWithShape="1">
          <a:gsLst>
            <a:gs pos="0">
              <a:schemeClr val="bg2">
                <a:tint val="90000"/>
                <a:satMod val="92000"/>
                <a:lumMod val="120000"/>
              </a:schemeClr>
            </a:gs>
            <a:gs pos="100000">
              <a:schemeClr val="bg2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>
            <a:extLst>
              <a:ext uri="{FF2B5EF4-FFF2-40B4-BE49-F238E27FC236}">
                <a16:creationId xmlns:a16="http://schemas.microsoft.com/office/drawing/2014/main" id="{7398C59F-5A18-487B-91D6-B955AACF2E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9" y="228600"/>
            <a:ext cx="2851523" cy="6638625"/>
            <a:chOff x="2487613" y="285750"/>
            <a:chExt cx="2428875" cy="5654676"/>
          </a:xfrm>
        </p:grpSpPr>
        <p:sp>
          <p:nvSpPr>
            <p:cNvPr id="7" name="Freeform 11">
              <a:extLst>
                <a:ext uri="{FF2B5EF4-FFF2-40B4-BE49-F238E27FC236}">
                  <a16:creationId xmlns:a16="http://schemas.microsoft.com/office/drawing/2014/main" id="{0557FAFE-C7C3-47EC-A4F5-9B216631920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8" name="Freeform 12">
              <a:extLst>
                <a:ext uri="{FF2B5EF4-FFF2-40B4-BE49-F238E27FC236}">
                  <a16:creationId xmlns:a16="http://schemas.microsoft.com/office/drawing/2014/main" id="{95BC28FB-3882-4674-9D79-EA58BEB7CEB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0" name="Freeform 13">
              <a:extLst>
                <a:ext uri="{FF2B5EF4-FFF2-40B4-BE49-F238E27FC236}">
                  <a16:creationId xmlns:a16="http://schemas.microsoft.com/office/drawing/2014/main" id="{9C6EC892-83F9-402F-8552-0AD7C0556E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11" name="Freeform 14">
              <a:extLst>
                <a:ext uri="{FF2B5EF4-FFF2-40B4-BE49-F238E27FC236}">
                  <a16:creationId xmlns:a16="http://schemas.microsoft.com/office/drawing/2014/main" id="{18387766-037C-4EF0-8471-D19CBF2A431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25" name="Freeform 15">
              <a:extLst>
                <a:ext uri="{FF2B5EF4-FFF2-40B4-BE49-F238E27FC236}">
                  <a16:creationId xmlns:a16="http://schemas.microsoft.com/office/drawing/2014/main" id="{1E364F38-6F3A-476A-93E6-962EA817C42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39" name="Freeform 16">
              <a:extLst>
                <a:ext uri="{FF2B5EF4-FFF2-40B4-BE49-F238E27FC236}">
                  <a16:creationId xmlns:a16="http://schemas.microsoft.com/office/drawing/2014/main" id="{35C335A4-1E67-4293-8BE2-DFB085D4FBB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1" name="Freeform 17">
              <a:extLst>
                <a:ext uri="{FF2B5EF4-FFF2-40B4-BE49-F238E27FC236}">
                  <a16:creationId xmlns:a16="http://schemas.microsoft.com/office/drawing/2014/main" id="{9A8A0F10-2C98-4297-9F92-5D95533927BD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3" name="Freeform 18">
              <a:extLst>
                <a:ext uri="{FF2B5EF4-FFF2-40B4-BE49-F238E27FC236}">
                  <a16:creationId xmlns:a16="http://schemas.microsoft.com/office/drawing/2014/main" id="{C3B112A3-006E-4008-A778-DB5F6A09D51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5" name="Freeform 19">
              <a:extLst>
                <a:ext uri="{FF2B5EF4-FFF2-40B4-BE49-F238E27FC236}">
                  <a16:creationId xmlns:a16="http://schemas.microsoft.com/office/drawing/2014/main" id="{E5E62767-5C25-4C49-9568-432433A3C5B7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7" name="Freeform 20">
              <a:extLst>
                <a:ext uri="{FF2B5EF4-FFF2-40B4-BE49-F238E27FC236}">
                  <a16:creationId xmlns:a16="http://schemas.microsoft.com/office/drawing/2014/main" id="{598EC006-77B1-42BA-B815-66CCB9B170E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49" name="Freeform 21">
              <a:extLst>
                <a:ext uri="{FF2B5EF4-FFF2-40B4-BE49-F238E27FC236}">
                  <a16:creationId xmlns:a16="http://schemas.microsoft.com/office/drawing/2014/main" id="{A144ED09-DA06-491D-95A8-AB3DED43295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0" name="Freeform 22">
              <a:extLst>
                <a:ext uri="{FF2B5EF4-FFF2-40B4-BE49-F238E27FC236}">
                  <a16:creationId xmlns:a16="http://schemas.microsoft.com/office/drawing/2014/main" id="{1CB00BD2-11CD-4A38-8F38-02B0D1105EF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grpSp>
        <p:nvGrpSpPr>
          <p:cNvPr id="26" name="Group 25">
            <a:extLst>
              <a:ext uri="{FF2B5EF4-FFF2-40B4-BE49-F238E27FC236}">
                <a16:creationId xmlns:a16="http://schemas.microsoft.com/office/drawing/2014/main" id="{520234FB-542E-4550-9C2F-1B56FD41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27224" y="-786"/>
            <a:ext cx="2356675" cy="6854040"/>
            <a:chOff x="6627813" y="194833"/>
            <a:chExt cx="1952625" cy="5678918"/>
          </a:xfrm>
        </p:grpSpPr>
        <p:sp>
          <p:nvSpPr>
            <p:cNvPr id="51" name="Freeform 27">
              <a:extLst>
                <a:ext uri="{FF2B5EF4-FFF2-40B4-BE49-F238E27FC236}">
                  <a16:creationId xmlns:a16="http://schemas.microsoft.com/office/drawing/2014/main" id="{41FCE1F3-DEB3-47CD-90FF-7DABB4AF45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2" name="Freeform 28">
              <a:extLst>
                <a:ext uri="{FF2B5EF4-FFF2-40B4-BE49-F238E27FC236}">
                  <a16:creationId xmlns:a16="http://schemas.microsoft.com/office/drawing/2014/main" id="{5708E488-C19B-452C-B197-6F1C34F6E7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3" name="Freeform 29">
              <a:extLst>
                <a:ext uri="{FF2B5EF4-FFF2-40B4-BE49-F238E27FC236}">
                  <a16:creationId xmlns:a16="http://schemas.microsoft.com/office/drawing/2014/main" id="{89D3FD25-890E-4981-A71D-EE796873D74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4" name="Freeform 30">
              <a:extLst>
                <a:ext uri="{FF2B5EF4-FFF2-40B4-BE49-F238E27FC236}">
                  <a16:creationId xmlns:a16="http://schemas.microsoft.com/office/drawing/2014/main" id="{51B5414C-556A-47CB-8EE2-974A85A7A4D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5" name="Freeform 31">
              <a:extLst>
                <a:ext uri="{FF2B5EF4-FFF2-40B4-BE49-F238E27FC236}">
                  <a16:creationId xmlns:a16="http://schemas.microsoft.com/office/drawing/2014/main" id="{1C02B20C-2B27-4B75-8AEE-A5D2E2674B8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6" name="Freeform 32">
              <a:extLst>
                <a:ext uri="{FF2B5EF4-FFF2-40B4-BE49-F238E27FC236}">
                  <a16:creationId xmlns:a16="http://schemas.microsoft.com/office/drawing/2014/main" id="{54427714-F9AA-4F93-BD1D-400F1EA93FCA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7" name="Freeform 33">
              <a:extLst>
                <a:ext uri="{FF2B5EF4-FFF2-40B4-BE49-F238E27FC236}">
                  <a16:creationId xmlns:a16="http://schemas.microsoft.com/office/drawing/2014/main" id="{28A77D6A-9E81-497F-ABCC-2695BB5ADDE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8" name="Freeform 34">
              <a:extLst>
                <a:ext uri="{FF2B5EF4-FFF2-40B4-BE49-F238E27FC236}">
                  <a16:creationId xmlns:a16="http://schemas.microsoft.com/office/drawing/2014/main" id="{2A1533BA-1478-4F7C-8E24-3F3E905050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59" name="Freeform 35">
              <a:extLst>
                <a:ext uri="{FF2B5EF4-FFF2-40B4-BE49-F238E27FC236}">
                  <a16:creationId xmlns:a16="http://schemas.microsoft.com/office/drawing/2014/main" id="{39686201-E633-40FD-A80A-1E28AD52E3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0" name="Freeform 36">
              <a:extLst>
                <a:ext uri="{FF2B5EF4-FFF2-40B4-BE49-F238E27FC236}">
                  <a16:creationId xmlns:a16="http://schemas.microsoft.com/office/drawing/2014/main" id="{76A215C2-F590-4938-810B-F8A79366CE2B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1" name="Freeform 37">
              <a:extLst>
                <a:ext uri="{FF2B5EF4-FFF2-40B4-BE49-F238E27FC236}">
                  <a16:creationId xmlns:a16="http://schemas.microsoft.com/office/drawing/2014/main" id="{85F418E7-330D-4002-8EC8-33C1A897FFB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  <p:sp>
          <p:nvSpPr>
            <p:cNvPr id="62" name="Freeform 38">
              <a:extLst>
                <a:ext uri="{FF2B5EF4-FFF2-40B4-BE49-F238E27FC236}">
                  <a16:creationId xmlns:a16="http://schemas.microsoft.com/office/drawing/2014/main" id="{8FFE669A-54C9-4436-9566-C5A90F16DB4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  <p:txBody>
            <a:bodyPr/>
            <a:lstStyle/>
            <a:p>
              <a:endParaRPr lang="it-IT"/>
            </a:p>
          </p:txBody>
        </p:sp>
      </p:grpSp>
      <p:sp>
        <p:nvSpPr>
          <p:cNvPr id="40" name="Rectangle 39">
            <a:extLst>
              <a:ext uri="{FF2B5EF4-FFF2-40B4-BE49-F238E27FC236}">
                <a16:creationId xmlns:a16="http://schemas.microsoft.com/office/drawing/2014/main" id="{DE91395A-2D18-4AF6-A0AC-AAA7189FED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sp>
        <p:nvSpPr>
          <p:cNvPr id="42" name="Freeform 11">
            <a:extLst>
              <a:ext uri="{FF2B5EF4-FFF2-40B4-BE49-F238E27FC236}">
                <a16:creationId xmlns:a16="http://schemas.microsoft.com/office/drawing/2014/main" id="{A57352BE-A213-4040-BE8E-D4A925AD9D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/>
          <a:lstStyle/>
          <a:p>
            <a:endParaRPr lang="it-IT"/>
          </a:p>
        </p:txBody>
      </p:sp>
      <p:sp useBgFill="1">
        <p:nvSpPr>
          <p:cNvPr id="44" name="Rectangle 43">
            <a:extLst>
              <a:ext uri="{FF2B5EF4-FFF2-40B4-BE49-F238E27FC236}">
                <a16:creationId xmlns:a16="http://schemas.microsoft.com/office/drawing/2014/main" id="{B2EC7880-C5D9-40A8-A6B0-3198AD07AD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86"/>
            <a:ext cx="12192000" cy="6854038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olo 1">
            <a:extLst>
              <a:ext uri="{FF2B5EF4-FFF2-40B4-BE49-F238E27FC236}">
                <a16:creationId xmlns:a16="http://schemas.microsoft.com/office/drawing/2014/main" id="{2D0C2CBE-9E71-39F8-7D76-2C9157369D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76321" y="723132"/>
            <a:ext cx="3650279" cy="1259894"/>
          </a:xfr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n-US" sz="2800" dirty="0"/>
              <a:t>La </a:t>
            </a:r>
            <a:r>
              <a:rPr lang="en-US" sz="2800" dirty="0" err="1"/>
              <a:t>distribuzione</a:t>
            </a:r>
            <a:r>
              <a:rPr lang="en-US" sz="2800" dirty="0"/>
              <a:t> </a:t>
            </a:r>
            <a:r>
              <a:rPr lang="en-US" sz="2800" dirty="0" err="1"/>
              <a:t>delle</a:t>
            </a:r>
            <a:r>
              <a:rPr lang="en-US" sz="2800" dirty="0"/>
              <a:t> </a:t>
            </a:r>
            <a:r>
              <a:rPr lang="en-US" sz="2800" dirty="0" err="1"/>
              <a:t>distanze</a:t>
            </a:r>
            <a:r>
              <a:rPr lang="en-US" sz="2800" dirty="0"/>
              <a:t> </a:t>
            </a:r>
          </a:p>
        </p:txBody>
      </p:sp>
      <p:sp>
        <p:nvSpPr>
          <p:cNvPr id="46" name="Rectangle 45">
            <a:extLst>
              <a:ext uri="{FF2B5EF4-FFF2-40B4-BE49-F238E27FC236}">
                <a16:creationId xmlns:a16="http://schemas.microsoft.com/office/drawing/2014/main" id="{94543A62-A2AB-454A-878E-D3D9190D5F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it-IT"/>
          </a:p>
        </p:txBody>
      </p:sp>
      <p:pic>
        <p:nvPicPr>
          <p:cNvPr id="5" name="Segnaposto contenuto 4">
            <a:extLst>
              <a:ext uri="{FF2B5EF4-FFF2-40B4-BE49-F238E27FC236}">
                <a16:creationId xmlns:a16="http://schemas.microsoft.com/office/drawing/2014/main" id="{0490BEBA-5A3F-FC53-A505-6CE77D057251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193" r="17062" b="-1"/>
          <a:stretch/>
        </p:blipFill>
        <p:spPr>
          <a:xfrm>
            <a:off x="4619543" y="640080"/>
            <a:ext cx="6953577" cy="5252773"/>
          </a:xfrm>
          <a:prstGeom prst="rect">
            <a:avLst/>
          </a:prstGeom>
        </p:spPr>
      </p:pic>
      <p:sp>
        <p:nvSpPr>
          <p:cNvPr id="48" name="Freeform 11">
            <a:extLst>
              <a:ext uri="{FF2B5EF4-FFF2-40B4-BE49-F238E27FC236}">
                <a16:creationId xmlns:a16="http://schemas.microsoft.com/office/drawing/2014/main" id="{50553464-41F1-4160-9D02-7C5EC7013BD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-1" y="6061223"/>
            <a:ext cx="1038036" cy="506277"/>
          </a:xfrm>
          <a:custGeom>
            <a:avLst/>
            <a:gdLst>
              <a:gd name="connsiteX0" fmla="*/ 0 w 1038036"/>
              <a:gd name="connsiteY0" fmla="*/ 0 h 506277"/>
              <a:gd name="connsiteX1" fmla="*/ 182880 w 1038036"/>
              <a:gd name="connsiteY1" fmla="*/ 0 h 506277"/>
              <a:gd name="connsiteX2" fmla="*/ 291705 w 1038036"/>
              <a:gd name="connsiteY2" fmla="*/ 0 h 506277"/>
              <a:gd name="connsiteX3" fmla="*/ 291705 w 1038036"/>
              <a:gd name="connsiteY3" fmla="*/ 151 h 506277"/>
              <a:gd name="connsiteX4" fmla="*/ 692049 w 1038036"/>
              <a:gd name="connsiteY4" fmla="*/ 705 h 506277"/>
              <a:gd name="connsiteX5" fmla="*/ 782744 w 1038036"/>
              <a:gd name="connsiteY5" fmla="*/ 705 h 506277"/>
              <a:gd name="connsiteX6" fmla="*/ 797001 w 1038036"/>
              <a:gd name="connsiteY6" fmla="*/ 5473 h 506277"/>
              <a:gd name="connsiteX7" fmla="*/ 801982 w 1038036"/>
              <a:gd name="connsiteY7" fmla="*/ 10242 h 506277"/>
              <a:gd name="connsiteX8" fmla="*/ 1030951 w 1038036"/>
              <a:gd name="connsiteY8" fmla="*/ 239185 h 506277"/>
              <a:gd name="connsiteX9" fmla="*/ 1030951 w 1038036"/>
              <a:gd name="connsiteY9" fmla="*/ 267797 h 506277"/>
              <a:gd name="connsiteX10" fmla="*/ 801982 w 1038036"/>
              <a:gd name="connsiteY10" fmla="*/ 496740 h 506277"/>
              <a:gd name="connsiteX11" fmla="*/ 797001 w 1038036"/>
              <a:gd name="connsiteY11" fmla="*/ 501508 h 506277"/>
              <a:gd name="connsiteX12" fmla="*/ 782744 w 1038036"/>
              <a:gd name="connsiteY12" fmla="*/ 506277 h 506277"/>
              <a:gd name="connsiteX13" fmla="*/ 692049 w 1038036"/>
              <a:gd name="connsiteY13" fmla="*/ 506277 h 506277"/>
              <a:gd name="connsiteX14" fmla="*/ 291705 w 1038036"/>
              <a:gd name="connsiteY14" fmla="*/ 505140 h 506277"/>
              <a:gd name="connsiteX15" fmla="*/ 291705 w 1038036"/>
              <a:gd name="connsiteY15" fmla="*/ 506277 h 506277"/>
              <a:gd name="connsiteX16" fmla="*/ 0 w 1038036"/>
              <a:gd name="connsiteY16" fmla="*/ 506277 h 5062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</a:cxnLst>
            <a:rect l="l" t="t" r="r" b="b"/>
            <a:pathLst>
              <a:path w="1038036" h="506277">
                <a:moveTo>
                  <a:pt x="0" y="0"/>
                </a:moveTo>
                <a:lnTo>
                  <a:pt x="182880" y="0"/>
                </a:lnTo>
                <a:lnTo>
                  <a:pt x="291705" y="0"/>
                </a:lnTo>
                <a:lnTo>
                  <a:pt x="291705" y="151"/>
                </a:lnTo>
                <a:lnTo>
                  <a:pt x="692049" y="705"/>
                </a:lnTo>
                <a:lnTo>
                  <a:pt x="782744" y="705"/>
                </a:lnTo>
                <a:cubicBezTo>
                  <a:pt x="787553" y="705"/>
                  <a:pt x="792363" y="5473"/>
                  <a:pt x="797001" y="5473"/>
                </a:cubicBezTo>
                <a:cubicBezTo>
                  <a:pt x="797001" y="10242"/>
                  <a:pt x="801982" y="10242"/>
                  <a:pt x="801982" y="10242"/>
                </a:cubicBezTo>
                <a:lnTo>
                  <a:pt x="1030951" y="239185"/>
                </a:lnTo>
                <a:cubicBezTo>
                  <a:pt x="1040398" y="248722"/>
                  <a:pt x="1040398" y="258259"/>
                  <a:pt x="1030951" y="267797"/>
                </a:cubicBezTo>
                <a:lnTo>
                  <a:pt x="801982" y="496740"/>
                </a:lnTo>
                <a:cubicBezTo>
                  <a:pt x="800436" y="498363"/>
                  <a:pt x="798547" y="499885"/>
                  <a:pt x="797001" y="501508"/>
                </a:cubicBezTo>
                <a:cubicBezTo>
                  <a:pt x="792363" y="506277"/>
                  <a:pt x="787553" y="506277"/>
                  <a:pt x="782744" y="506277"/>
                </a:cubicBezTo>
                <a:lnTo>
                  <a:pt x="692049" y="506277"/>
                </a:lnTo>
                <a:lnTo>
                  <a:pt x="291705" y="505140"/>
                </a:lnTo>
                <a:lnTo>
                  <a:pt x="291705" y="506277"/>
                </a:lnTo>
                <a:lnTo>
                  <a:pt x="0" y="506277"/>
                </a:lnTo>
                <a:close/>
              </a:path>
            </a:pathLst>
          </a:cu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72383038"/>
      </p:ext>
    </p:extLst>
  </p:cSld>
  <p:clrMapOvr>
    <a:masterClrMapping/>
  </p:clrMapOvr>
</p:sld>
</file>

<file path=ppt/theme/theme1.xml><?xml version="1.0" encoding="utf-8"?>
<a:theme xmlns:a="http://schemas.openxmlformats.org/drawingml/2006/main" name="Filo">
  <a:themeElements>
    <a:clrScheme name="Filo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Filo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Filo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ppt/theme/theme2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Filo</Template>
  <TotalTime>2850</TotalTime>
  <Words>409</Words>
  <Application>Microsoft Office PowerPoint</Application>
  <PresentationFormat>Widescreen</PresentationFormat>
  <Paragraphs>77</Paragraphs>
  <Slides>15</Slides>
  <Notes>2</Notes>
  <HiddenSlides>1</HiddenSlides>
  <MMClips>0</MMClips>
  <ScaleCrop>false</ScaleCrop>
  <HeadingPairs>
    <vt:vector size="6" baseType="variant">
      <vt:variant>
        <vt:lpstr>Caratteri utilizzati</vt:lpstr>
      </vt:variant>
      <vt:variant>
        <vt:i4>5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15</vt:i4>
      </vt:variant>
    </vt:vector>
  </HeadingPairs>
  <TitlesOfParts>
    <vt:vector size="21" baseType="lpstr">
      <vt:lpstr>Aptos</vt:lpstr>
      <vt:lpstr>Arial</vt:lpstr>
      <vt:lpstr>Century Gothic</vt:lpstr>
      <vt:lpstr>Montserrat</vt:lpstr>
      <vt:lpstr>Wingdings 3</vt:lpstr>
      <vt:lpstr>Filo</vt:lpstr>
      <vt:lpstr>STATISTICA SPAZIALE I dati geostatistici</vt:lpstr>
      <vt:lpstr>Il Biossido di Azoto</vt:lpstr>
      <vt:lpstr>I siti di monitoraggio</vt:lpstr>
      <vt:lpstr>Analisi del NO2  I valori della concentrazione nei siti</vt:lpstr>
      <vt:lpstr>La distribuzione della variabile NO2 osservata</vt:lpstr>
      <vt:lpstr>Analisi della dipendenza spaziale L’Hscatterplot</vt:lpstr>
      <vt:lpstr>Presentazione standard di PowerPoint</vt:lpstr>
      <vt:lpstr>Variogrammi e variografia</vt:lpstr>
      <vt:lpstr>Presentazione standard di PowerPoint</vt:lpstr>
      <vt:lpstr>Presentazione standard di PowerPoint</vt:lpstr>
      <vt:lpstr>Matern</vt:lpstr>
      <vt:lpstr>Analisi direzionale</vt:lpstr>
      <vt:lpstr>Conclusioni</vt:lpstr>
      <vt:lpstr>Grazie per l’attenzione!</vt:lpstr>
      <vt:lpstr>La distribuzione delle distanze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Massimo Armano</dc:creator>
  <cp:lastModifiedBy>Massimo Armano</cp:lastModifiedBy>
  <cp:revision>31</cp:revision>
  <dcterms:created xsi:type="dcterms:W3CDTF">2024-12-12T08:33:33Z</dcterms:created>
  <dcterms:modified xsi:type="dcterms:W3CDTF">2024-12-18T14:08:10Z</dcterms:modified>
</cp:coreProperties>
</file>